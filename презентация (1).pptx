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0"/>
  </p:notesMasterIdLst>
  <p:sldIdLst>
    <p:sldId id="256" r:id="rId5"/>
    <p:sldId id="290" r:id="rId6"/>
    <p:sldId id="291" r:id="rId7"/>
    <p:sldId id="302" r:id="rId8"/>
    <p:sldId id="292" r:id="rId9"/>
    <p:sldId id="293" r:id="rId10"/>
    <p:sldId id="294" r:id="rId11"/>
    <p:sldId id="295" r:id="rId12"/>
    <p:sldId id="296" r:id="rId13"/>
    <p:sldId id="297" r:id="rId14"/>
    <p:sldId id="298" r:id="rId15"/>
    <p:sldId id="299" r:id="rId16"/>
    <p:sldId id="300" r:id="rId17"/>
    <p:sldId id="301" r:id="rId18"/>
    <p:sldId id="262"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5494"/>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DCBD4-8038-453E-BB04-6D6F8136C490}" v="94" dt="2022-03-11T10:16:06.880"/>
    <p1510:client id="{FE2B8C0A-463C-4F09-8304-DDA012B79D17}" v="41" dt="2022-04-07T10:03:51.075"/>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Светлый стиль 1 — акцент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EBBBCC-DAD2-459C-BE2E-F6DE35CF9A28}" styleName="Темный стиль 2 - акцент 3/акцент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Темный стиль 2 - акцент 1/акцент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60" autoAdjust="0"/>
    <p:restoredTop sz="94660"/>
  </p:normalViewPr>
  <p:slideViewPr>
    <p:cSldViewPr snapToGrid="0">
      <p:cViewPr varScale="1">
        <p:scale>
          <a:sx n="97" d="100"/>
          <a:sy n="97" d="100"/>
        </p:scale>
        <p:origin x="134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C778A-3B52-400E-B8B8-FCF0BB0568DE}" type="datetimeFigureOut">
              <a:rPr lang="en-US" smtClean="0"/>
              <a:pPr/>
              <a:t>4/21/2026</a:t>
            </a:fld>
            <a:endParaRPr lang="en-US"/>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CA834-C85D-4321-A26E-942F650E8C8B}" type="slidenum">
              <a:rPr lang="en-US" smtClean="0"/>
              <a:pPr/>
              <a:t>‹#›</a:t>
            </a:fld>
            <a:endParaRPr lang="en-US"/>
          </a:p>
        </p:txBody>
      </p:sp>
    </p:spTree>
    <p:extLst>
      <p:ext uri="{BB962C8B-B14F-4D97-AF65-F5344CB8AC3E}">
        <p14:creationId xmlns:p14="http://schemas.microsoft.com/office/powerpoint/2010/main" val="1808952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3E40D091-1EE6-4C7B-A830-ED7AC069DA0D}" type="datetime1">
              <a:rPr lang="ru-RU" smtClean="0"/>
              <a:pPr/>
              <a:t>21.04.2026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383431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19870EF-5C8D-4B63-83FD-B7A343AFE79E}" type="datetime1">
              <a:rPr lang="ru-RU" smtClean="0"/>
              <a:pPr/>
              <a:t>21.04.2026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2531804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15FFC26-E440-4ADE-B4EA-92F9302525D6}" type="datetime1">
              <a:rPr lang="ru-RU" smtClean="0"/>
              <a:pPr/>
              <a:t>21.04.2026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2548279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BC1413D9-A656-4B30-8449-BB517879D025}" type="datetime1">
              <a:rPr lang="ru-RU" smtClean="0"/>
              <a:pPr/>
              <a:t>21.04.2026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33557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D3F7B15-0A50-48CD-BD83-0009EA99CD5B}" type="datetime1">
              <a:rPr lang="ru-RU" smtClean="0"/>
              <a:pPr/>
              <a:t>21.04.2026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188516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1A399A69-1F89-40FE-BED4-E92639D0243C}" type="datetime1">
              <a:rPr lang="ru-RU" smtClean="0"/>
              <a:pPr/>
              <a:t>21.04.2026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437325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6436D7-D75B-433F-8E99-DE5C311652E7}" type="datetime1">
              <a:rPr lang="ru-RU" smtClean="0"/>
              <a:pPr/>
              <a:t>21.04.2026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1500876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AE887A51-C7CF-42B1-9E6F-1D4BB9A7791C}" type="datetime1">
              <a:rPr lang="ru-RU" smtClean="0"/>
              <a:pPr/>
              <a:t>21.04.2026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3437308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890569B9-0453-400C-8084-2D5C4884E2EC}" type="datetime1">
              <a:rPr lang="ru-RU" smtClean="0"/>
              <a:pPr/>
              <a:t>21.04.2026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46116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1B80F2F5-1ABF-4B84-AE0A-7EEFA26032D5}" type="datetime1">
              <a:rPr lang="ru-RU" smtClean="0"/>
              <a:pPr/>
              <a:t>21.04.2026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2148252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2B1C81C-F785-4FE5-8473-6A83009FC6F6}" type="datetime1">
              <a:rPr lang="ru-RU" smtClean="0"/>
              <a:pPr/>
              <a:t>21.04.2026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96E53A-6968-4272-8BC2-4567D025D9BB}" type="slidenum">
              <a:rPr lang="ru-RU" smtClean="0"/>
              <a:pPr/>
              <a:t>‹#›</a:t>
            </a:fld>
            <a:endParaRPr lang="ru-RU"/>
          </a:p>
        </p:txBody>
      </p:sp>
    </p:spTree>
    <p:extLst>
      <p:ext uri="{BB962C8B-B14F-4D97-AF65-F5344CB8AC3E}">
        <p14:creationId xmlns:p14="http://schemas.microsoft.com/office/powerpoint/2010/main" val="271761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12B8E7-3000-4801-8FCA-28334525A5E5}" type="datetime1">
              <a:rPr lang="ru-RU" smtClean="0"/>
              <a:pPr/>
              <a:t>21.04.2026</a:t>
            </a:fld>
            <a:endParaRPr lang="ru-RU"/>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6E53A-6968-4272-8BC2-4567D025D9BB}" type="slidenum">
              <a:rPr lang="ru-RU" smtClean="0"/>
              <a:pPr/>
              <a:t>‹#›</a:t>
            </a:fld>
            <a:endParaRPr lang="ru-RU"/>
          </a:p>
        </p:txBody>
      </p:sp>
    </p:spTree>
    <p:extLst>
      <p:ext uri="{BB962C8B-B14F-4D97-AF65-F5344CB8AC3E}">
        <p14:creationId xmlns:p14="http://schemas.microsoft.com/office/powerpoint/2010/main" val="2471555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5021"/>
            <a:ext cx="9144000" cy="6639515"/>
          </a:xfrm>
          <a:prstGeom prst="rect">
            <a:avLst/>
          </a:prstGeom>
        </p:spPr>
      </p:pic>
      <p:sp>
        <p:nvSpPr>
          <p:cNvPr id="6" name="Заголовок 5"/>
          <p:cNvSpPr txBox="1">
            <a:spLocks noGrp="1"/>
          </p:cNvSpPr>
          <p:nvPr>
            <p:ph type="ctrTitle"/>
          </p:nvPr>
        </p:nvSpPr>
        <p:spPr>
          <a:xfrm>
            <a:off x="234071" y="2879982"/>
            <a:ext cx="8675858" cy="1089529"/>
          </a:xfrm>
          <a:prstGeom prst="rect">
            <a:avLst/>
          </a:prstGeom>
          <a:noFill/>
        </p:spPr>
        <p:txBody>
          <a:bodyPr wrap="square" rtlCol="0">
            <a:spAutoFit/>
          </a:bodyPr>
          <a:lstStyle/>
          <a:p>
            <a:r>
              <a:rPr lang="ru-RU" sz="2400" b="1" dirty="0" err="1">
                <a:solidFill>
                  <a:schemeClr val="bg1"/>
                </a:solidFill>
                <a:latin typeface="Times New Roman" pitchFamily="18" charset="0"/>
                <a:cs typeface="Times New Roman" pitchFamily="18" charset="0"/>
              </a:rPr>
              <a:t>Дипломдық</a:t>
            </a:r>
            <a:r>
              <a:rPr lang="ru-RU" sz="2400" b="1" dirty="0">
                <a:solidFill>
                  <a:schemeClr val="bg1"/>
                </a:solidFill>
                <a:latin typeface="Times New Roman" pitchFamily="18" charset="0"/>
                <a:cs typeface="Times New Roman" pitchFamily="18" charset="0"/>
              </a:rPr>
              <a:t> </a:t>
            </a:r>
            <a:r>
              <a:rPr lang="ru-RU" sz="2400" b="1" dirty="0" err="1">
                <a:solidFill>
                  <a:schemeClr val="bg1"/>
                </a:solidFill>
                <a:latin typeface="Times New Roman" pitchFamily="18" charset="0"/>
                <a:cs typeface="Times New Roman" pitchFamily="18" charset="0"/>
              </a:rPr>
              <a:t>жоба</a:t>
            </a:r>
            <a:r>
              <a:rPr lang="ru-RU" sz="2400" b="1" dirty="0">
                <a:solidFill>
                  <a:schemeClr val="bg1"/>
                </a:solidFill>
                <a:latin typeface="Times New Roman" pitchFamily="18" charset="0"/>
                <a:cs typeface="Times New Roman" pitchFamily="18" charset="0"/>
              </a:rPr>
              <a:t> </a:t>
            </a:r>
            <a:r>
              <a:rPr lang="ru-RU" sz="2400" b="1" err="1">
                <a:solidFill>
                  <a:schemeClr val="bg1"/>
                </a:solidFill>
                <a:latin typeface="Times New Roman" pitchFamily="18" charset="0"/>
                <a:cs typeface="Times New Roman" pitchFamily="18" charset="0"/>
              </a:rPr>
              <a:t>тақырыбы</a:t>
            </a:r>
            <a:r>
              <a:rPr lang="ru-RU" sz="2400" b="1">
                <a:solidFill>
                  <a:schemeClr val="bg1"/>
                </a:solidFill>
                <a:latin typeface="Times New Roman" pitchFamily="18" charset="0"/>
                <a:cs typeface="Times New Roman" pitchFamily="18" charset="0"/>
              </a:rPr>
              <a:t>:</a:t>
            </a:r>
            <a:r>
              <a:rPr lang="en-US" sz="2400" b="1">
                <a:solidFill>
                  <a:schemeClr val="bg1"/>
                </a:solidFill>
                <a:latin typeface="Times New Roman" pitchFamily="18" charset="0"/>
                <a:cs typeface="Times New Roman" pitchFamily="18" charset="0"/>
              </a:rPr>
              <a:t> </a:t>
            </a:r>
            <a:r>
              <a:rPr lang="kk-KZ" sz="2400">
                <a:solidFill>
                  <a:schemeClr val="bg1"/>
                </a:solidFill>
                <a:latin typeface="Times New Roman" panose="02020603050405020304" pitchFamily="18" charset="0"/>
                <a:cs typeface="Times New Roman" panose="02020603050405020304" pitchFamily="18" charset="0"/>
              </a:rPr>
              <a:t>AI көмегімен автоматтандырылған генерациялау және тест тапсырмаларын тексеру бұлтты қызметін жобалау</a:t>
            </a:r>
            <a:endParaRPr lang="ru-RU" sz="2400" b="1" dirty="0">
              <a:solidFill>
                <a:schemeClr val="bg1"/>
              </a:solidFill>
              <a:latin typeface="Times New Roman" panose="02020603050405020304" pitchFamily="18" charset="0"/>
              <a:cs typeface="Times New Roman" pitchFamily="18" charset="0"/>
            </a:endParaRPr>
          </a:p>
        </p:txBody>
      </p:sp>
      <p:pic>
        <p:nvPicPr>
          <p:cNvPr id="7" name="Рисунок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8458" y="1756891"/>
            <a:ext cx="3895843" cy="883615"/>
          </a:xfrm>
          <a:prstGeom prst="rect">
            <a:avLst/>
          </a:prstGeom>
        </p:spPr>
      </p:pic>
      <p:sp>
        <p:nvSpPr>
          <p:cNvPr id="2" name="TextBox 1"/>
          <p:cNvSpPr txBox="1"/>
          <p:nvPr/>
        </p:nvSpPr>
        <p:spPr>
          <a:xfrm>
            <a:off x="4695704" y="4334887"/>
            <a:ext cx="4126749" cy="1477328"/>
          </a:xfrm>
          <a:prstGeom prst="rect">
            <a:avLst/>
          </a:prstGeom>
          <a:noFill/>
        </p:spPr>
        <p:txBody>
          <a:bodyPr wrap="square" rtlCol="0">
            <a:spAutoFit/>
          </a:bodyPr>
          <a:lstStyle/>
          <a:p>
            <a:pPr algn="just"/>
            <a:r>
              <a:rPr lang="ru-RU" dirty="0" err="1">
                <a:solidFill>
                  <a:schemeClr val="bg1"/>
                </a:solidFill>
                <a:latin typeface="Times New Roman" pitchFamily="18" charset="0"/>
                <a:cs typeface="Times New Roman" pitchFamily="18" charset="0"/>
              </a:rPr>
              <a:t>Ғылыми</a:t>
            </a:r>
            <a:r>
              <a:rPr lang="ru-RU" dirty="0">
                <a:solidFill>
                  <a:schemeClr val="bg1"/>
                </a:solidFill>
                <a:latin typeface="Times New Roman" pitchFamily="18" charset="0"/>
                <a:cs typeface="Times New Roman" pitchFamily="18" charset="0"/>
              </a:rPr>
              <a:t> </a:t>
            </a:r>
            <a:r>
              <a:rPr lang="ru-RU" dirty="0" err="1">
                <a:solidFill>
                  <a:schemeClr val="bg1"/>
                </a:solidFill>
                <a:latin typeface="Times New Roman" pitchFamily="18" charset="0"/>
                <a:cs typeface="Times New Roman" pitchFamily="18" charset="0"/>
              </a:rPr>
              <a:t>жетекші</a:t>
            </a:r>
            <a:r>
              <a:rPr lang="ru-RU" dirty="0">
                <a:solidFill>
                  <a:schemeClr val="bg1"/>
                </a:solidFill>
                <a:latin typeface="Times New Roman" pitchFamily="18" charset="0"/>
                <a:cs typeface="Times New Roman" pitchFamily="18" charset="0"/>
              </a:rPr>
              <a:t>: </a:t>
            </a:r>
            <a:r>
              <a:rPr lang="ru-RU" dirty="0" err="1">
                <a:solidFill>
                  <a:schemeClr val="bg1"/>
                </a:solidFill>
                <a:latin typeface="Times New Roman" pitchFamily="18" charset="0"/>
                <a:cs typeface="Times New Roman" pitchFamily="18" charset="0"/>
              </a:rPr>
              <a:t>Болысханова</a:t>
            </a:r>
            <a:r>
              <a:rPr lang="ru-RU" dirty="0">
                <a:solidFill>
                  <a:schemeClr val="bg1"/>
                </a:solidFill>
                <a:latin typeface="Times New Roman" pitchFamily="18" charset="0"/>
                <a:cs typeface="Times New Roman" pitchFamily="18" charset="0"/>
              </a:rPr>
              <a:t> </a:t>
            </a:r>
            <a:r>
              <a:rPr lang="kk-KZ" dirty="0">
                <a:solidFill>
                  <a:schemeClr val="bg1"/>
                </a:solidFill>
                <a:latin typeface="Times New Roman" pitchFamily="18" charset="0"/>
                <a:cs typeface="Times New Roman" pitchFamily="18" charset="0"/>
              </a:rPr>
              <a:t>М</a:t>
            </a:r>
            <a:r>
              <a:rPr lang="en-US" dirty="0">
                <a:solidFill>
                  <a:schemeClr val="bg1"/>
                </a:solidFill>
                <a:latin typeface="Times New Roman" pitchFamily="18" charset="0"/>
                <a:cs typeface="Times New Roman" pitchFamily="18" charset="0"/>
              </a:rPr>
              <a:t>.</a:t>
            </a:r>
            <a:r>
              <a:rPr lang="kk-KZ" dirty="0">
                <a:solidFill>
                  <a:schemeClr val="bg1"/>
                </a:solidFill>
                <a:latin typeface="Times New Roman" pitchFamily="18" charset="0"/>
                <a:cs typeface="Times New Roman" pitchFamily="18" charset="0"/>
              </a:rPr>
              <a:t> Ж</a:t>
            </a:r>
            <a:r>
              <a:rPr lang="en-US" dirty="0">
                <a:solidFill>
                  <a:schemeClr val="bg1"/>
                </a:solidFill>
                <a:latin typeface="Times New Roman" pitchFamily="18" charset="0"/>
                <a:cs typeface="Times New Roman" pitchFamily="18" charset="0"/>
              </a:rPr>
              <a:t>.</a:t>
            </a:r>
            <a:endParaRPr lang="ru-RU" dirty="0">
              <a:solidFill>
                <a:schemeClr val="bg1"/>
              </a:solidFill>
              <a:latin typeface="Times New Roman" pitchFamily="18" charset="0"/>
              <a:cs typeface="Times New Roman" pitchFamily="18" charset="0"/>
            </a:endParaRPr>
          </a:p>
          <a:p>
            <a:pPr algn="just"/>
            <a:r>
              <a:rPr lang="ru-RU" dirty="0">
                <a:solidFill>
                  <a:schemeClr val="bg1"/>
                </a:solidFill>
                <a:latin typeface="Times New Roman" pitchFamily="18" charset="0"/>
                <a:cs typeface="Times New Roman" pitchFamily="18" charset="0"/>
              </a:rPr>
              <a:t>Студент: </a:t>
            </a:r>
            <a:r>
              <a:rPr lang="kk-KZ" dirty="0">
                <a:solidFill>
                  <a:schemeClr val="bg1"/>
                </a:solidFill>
                <a:latin typeface="Times New Roman" pitchFamily="18" charset="0"/>
                <a:cs typeface="Times New Roman" pitchFamily="18" charset="0"/>
              </a:rPr>
              <a:t>Гинаятова Г</a:t>
            </a:r>
            <a:r>
              <a:rPr lang="en-US" dirty="0">
                <a:solidFill>
                  <a:schemeClr val="bg1"/>
                </a:solidFill>
                <a:latin typeface="Times New Roman" pitchFamily="18" charset="0"/>
                <a:cs typeface="Times New Roman" pitchFamily="18" charset="0"/>
              </a:rPr>
              <a:t>.</a:t>
            </a:r>
            <a:r>
              <a:rPr lang="kk-KZ" dirty="0">
                <a:solidFill>
                  <a:schemeClr val="bg1"/>
                </a:solidFill>
                <a:latin typeface="Times New Roman" pitchFamily="18" charset="0"/>
                <a:cs typeface="Times New Roman" pitchFamily="18" charset="0"/>
              </a:rPr>
              <a:t> Б</a:t>
            </a:r>
            <a:r>
              <a:rPr lang="en-US" dirty="0">
                <a:solidFill>
                  <a:schemeClr val="bg1"/>
                </a:solidFill>
                <a:latin typeface="Times New Roman" pitchFamily="18" charset="0"/>
                <a:cs typeface="Times New Roman" pitchFamily="18" charset="0"/>
              </a:rPr>
              <a:t>.</a:t>
            </a:r>
          </a:p>
          <a:p>
            <a:pPr algn="just"/>
            <a:r>
              <a:rPr lang="en-US" dirty="0">
                <a:solidFill>
                  <a:schemeClr val="bg1"/>
                </a:solidFill>
                <a:latin typeface="Times New Roman" pitchFamily="18" charset="0"/>
                <a:cs typeface="Times New Roman" pitchFamily="18" charset="0"/>
              </a:rPr>
              <a:t>                </a:t>
            </a:r>
            <a:r>
              <a:rPr lang="kk-KZ" dirty="0">
                <a:solidFill>
                  <a:schemeClr val="bg1"/>
                </a:solidFill>
                <a:latin typeface="Times New Roman" pitchFamily="18" charset="0"/>
                <a:cs typeface="Times New Roman" pitchFamily="18" charset="0"/>
              </a:rPr>
              <a:t>Сапаралы З</a:t>
            </a:r>
            <a:r>
              <a:rPr lang="en-US" dirty="0">
                <a:solidFill>
                  <a:schemeClr val="bg1"/>
                </a:solidFill>
                <a:latin typeface="Times New Roman" pitchFamily="18" charset="0"/>
                <a:cs typeface="Times New Roman" pitchFamily="18" charset="0"/>
              </a:rPr>
              <a:t>.</a:t>
            </a:r>
            <a:r>
              <a:rPr lang="kk-KZ" dirty="0">
                <a:solidFill>
                  <a:schemeClr val="bg1"/>
                </a:solidFill>
                <a:latin typeface="Times New Roman" pitchFamily="18" charset="0"/>
                <a:cs typeface="Times New Roman" pitchFamily="18" charset="0"/>
              </a:rPr>
              <a:t> Н</a:t>
            </a:r>
            <a:r>
              <a:rPr lang="en-US" dirty="0">
                <a:solidFill>
                  <a:schemeClr val="bg1"/>
                </a:solidFill>
                <a:latin typeface="Times New Roman" pitchFamily="18" charset="0"/>
                <a:cs typeface="Times New Roman" pitchFamily="18" charset="0"/>
              </a:rPr>
              <a:t>.</a:t>
            </a:r>
            <a:endParaRPr lang="ru-RU" dirty="0">
              <a:solidFill>
                <a:schemeClr val="bg1"/>
              </a:solidFill>
              <a:latin typeface="Times New Roman" pitchFamily="18" charset="0"/>
              <a:cs typeface="Times New Roman" pitchFamily="18" charset="0"/>
            </a:endParaRPr>
          </a:p>
          <a:p>
            <a:pPr algn="just"/>
            <a:r>
              <a:rPr lang="ru-RU" dirty="0" err="1">
                <a:solidFill>
                  <a:schemeClr val="bg1"/>
                </a:solidFill>
                <a:latin typeface="Times New Roman" pitchFamily="18" charset="0"/>
                <a:cs typeface="Times New Roman" pitchFamily="18" charset="0"/>
              </a:rPr>
              <a:t>Білім</a:t>
            </a:r>
            <a:r>
              <a:rPr lang="ru-RU" dirty="0">
                <a:solidFill>
                  <a:schemeClr val="bg1"/>
                </a:solidFill>
                <a:latin typeface="Times New Roman" pitchFamily="18" charset="0"/>
                <a:cs typeface="Times New Roman" pitchFamily="18" charset="0"/>
              </a:rPr>
              <a:t> беру </a:t>
            </a:r>
            <a:r>
              <a:rPr lang="ru-RU" dirty="0" err="1">
                <a:solidFill>
                  <a:schemeClr val="bg1"/>
                </a:solidFill>
                <a:latin typeface="Times New Roman" pitchFamily="18" charset="0"/>
                <a:cs typeface="Times New Roman" pitchFamily="18" charset="0"/>
              </a:rPr>
              <a:t>бағдарламасы</a:t>
            </a:r>
            <a:r>
              <a:rPr lang="ru-RU" dirty="0">
                <a:solidFill>
                  <a:schemeClr val="bg1"/>
                </a:solidFill>
                <a:latin typeface="Times New Roman" pitchFamily="18" charset="0"/>
                <a:cs typeface="Times New Roman" pitchFamily="18" charset="0"/>
              </a:rPr>
              <a:t>: </a:t>
            </a:r>
          </a:p>
          <a:p>
            <a:pPr algn="just"/>
            <a:r>
              <a:rPr lang="ru-RU" dirty="0">
                <a:solidFill>
                  <a:schemeClr val="bg1"/>
                </a:solidFill>
                <a:latin typeface="Times New Roman" pitchFamily="18" charset="0"/>
                <a:cs typeface="Times New Roman" pitchFamily="18" charset="0"/>
              </a:rPr>
              <a:t>6В06106 «</a:t>
            </a:r>
            <a:r>
              <a:rPr lang="ru-RU" dirty="0" err="1">
                <a:solidFill>
                  <a:schemeClr val="bg1"/>
                </a:solidFill>
                <a:latin typeface="Times New Roman" panose="02020603050405020304" pitchFamily="18" charset="0"/>
                <a:cs typeface="Times New Roman" panose="02020603050405020304" pitchFamily="18" charset="0"/>
              </a:rPr>
              <a:t>Ақпараттық</a:t>
            </a:r>
            <a:r>
              <a:rPr lang="ru-RU" dirty="0">
                <a:solidFill>
                  <a:schemeClr val="bg1"/>
                </a:solidFill>
                <a:latin typeface="Times New Roman" panose="02020603050405020304" pitchFamily="18" charset="0"/>
                <a:cs typeface="Times New Roman" panose="02020603050405020304" pitchFamily="18" charset="0"/>
              </a:rPr>
              <a:t> </a:t>
            </a:r>
            <a:r>
              <a:rPr lang="ru-RU" dirty="0" err="1">
                <a:solidFill>
                  <a:schemeClr val="bg1"/>
                </a:solidFill>
                <a:latin typeface="Times New Roman" panose="02020603050405020304" pitchFamily="18" charset="0"/>
                <a:cs typeface="Times New Roman" panose="02020603050405020304" pitchFamily="18" charset="0"/>
              </a:rPr>
              <a:t>жүйелер</a:t>
            </a:r>
            <a:r>
              <a:rPr lang="ru-RU" dirty="0">
                <a:solidFill>
                  <a:schemeClr val="bg1"/>
                </a:solidFill>
                <a:latin typeface="Times New Roman" panose="02020603050405020304" pitchFamily="18" charset="0"/>
                <a:cs typeface="Times New Roman" panose="02020603050405020304" pitchFamily="18" charset="0"/>
              </a:rPr>
              <a:t>» </a:t>
            </a:r>
          </a:p>
        </p:txBody>
      </p:sp>
      <p:sp>
        <p:nvSpPr>
          <p:cNvPr id="3" name="Прямоугольник 2"/>
          <p:cNvSpPr/>
          <p:nvPr/>
        </p:nvSpPr>
        <p:spPr>
          <a:xfrm>
            <a:off x="0" y="331037"/>
            <a:ext cx="9144000" cy="924805"/>
          </a:xfrm>
          <a:prstGeom prst="rect">
            <a:avLst/>
          </a:prstGeom>
        </p:spPr>
        <p:txBody>
          <a:bodyPr wrap="square">
            <a:spAutoFit/>
          </a:bodyPr>
          <a:lstStyle/>
          <a:p>
            <a:pPr algn="ctr">
              <a:lnSpc>
                <a:spcPct val="115000"/>
              </a:lnSpc>
              <a:spcAft>
                <a:spcPts val="0"/>
              </a:spcAft>
            </a:pPr>
            <a:r>
              <a:rPr lang="ru-RU" sz="1200" dirty="0">
                <a:solidFill>
                  <a:schemeClr val="bg1"/>
                </a:solidFill>
                <a:latin typeface="Times New Roman" pitchFamily="18" charset="0"/>
                <a:cs typeface="Times New Roman" pitchFamily="18" charset="0"/>
              </a:rPr>
              <a:t>«Қ.И.С</a:t>
            </a:r>
            <a:r>
              <a:rPr lang="en-US" sz="1200" dirty="0">
                <a:solidFill>
                  <a:schemeClr val="bg1"/>
                </a:solidFill>
                <a:latin typeface="Times New Roman" pitchFamily="18" charset="0"/>
                <a:cs typeface="Times New Roman" pitchFamily="18" charset="0"/>
              </a:rPr>
              <a:t>ə</a:t>
            </a:r>
            <a:r>
              <a:rPr lang="ru-RU" sz="1200" dirty="0" err="1">
                <a:solidFill>
                  <a:schemeClr val="bg1"/>
                </a:solidFill>
                <a:latin typeface="Times New Roman" pitchFamily="18" charset="0"/>
                <a:cs typeface="Times New Roman" pitchFamily="18" charset="0"/>
              </a:rPr>
              <a:t>тбаев</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атындағы</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қазақ</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ұлттық</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техникалық</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зерттеу</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университеті</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коммерциалық</a:t>
            </a:r>
            <a:endParaRPr lang="ru-RU" sz="1200" dirty="0">
              <a:solidFill>
                <a:schemeClr val="bg1"/>
              </a:solidFill>
              <a:latin typeface="Times New Roman" pitchFamily="18" charset="0"/>
              <a:cs typeface="Times New Roman" pitchFamily="18" charset="0"/>
            </a:endParaRPr>
          </a:p>
          <a:p>
            <a:pPr algn="ctr">
              <a:lnSpc>
                <a:spcPct val="115000"/>
              </a:lnSpc>
              <a:spcAft>
                <a:spcPts val="0"/>
              </a:spcAft>
            </a:pPr>
            <a:r>
              <a:rPr lang="ru-RU" sz="1200" dirty="0" err="1">
                <a:solidFill>
                  <a:schemeClr val="bg1"/>
                </a:solidFill>
                <a:latin typeface="Times New Roman" pitchFamily="18" charset="0"/>
                <a:cs typeface="Times New Roman" pitchFamily="18" charset="0"/>
              </a:rPr>
              <a:t>емес</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акционерлік</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қоғамы</a:t>
            </a:r>
            <a:endParaRPr lang="ru-RU" sz="1200" dirty="0">
              <a:solidFill>
                <a:schemeClr val="bg1"/>
              </a:solidFill>
              <a:latin typeface="Times New Roman" pitchFamily="18" charset="0"/>
              <a:cs typeface="Times New Roman" pitchFamily="18" charset="0"/>
            </a:endParaRPr>
          </a:p>
          <a:p>
            <a:pPr algn="ctr">
              <a:lnSpc>
                <a:spcPct val="115000"/>
              </a:lnSpc>
              <a:spcAft>
                <a:spcPts val="0"/>
              </a:spcAft>
            </a:pPr>
            <a:r>
              <a:rPr lang="ru-RU" sz="1200" dirty="0">
                <a:solidFill>
                  <a:schemeClr val="bg1"/>
                </a:solidFill>
                <a:latin typeface="Times New Roman" pitchFamily="18" charset="0"/>
                <a:cs typeface="Times New Roman" pitchFamily="18" charset="0"/>
              </a:rPr>
              <a:t>Автоматика </a:t>
            </a:r>
            <a:r>
              <a:rPr lang="ru-RU" sz="1200" dirty="0" err="1">
                <a:solidFill>
                  <a:schemeClr val="bg1"/>
                </a:solidFill>
                <a:latin typeface="Times New Roman" pitchFamily="18" charset="0"/>
                <a:cs typeface="Times New Roman" pitchFamily="18" charset="0"/>
              </a:rPr>
              <a:t>және</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ақпараттық</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технологиялар</a:t>
            </a:r>
            <a:r>
              <a:rPr lang="ru-RU" sz="1200" dirty="0">
                <a:solidFill>
                  <a:schemeClr val="bg1"/>
                </a:solidFill>
                <a:latin typeface="Times New Roman" pitchFamily="18" charset="0"/>
                <a:cs typeface="Times New Roman" pitchFamily="18" charset="0"/>
              </a:rPr>
              <a:t> институты</a:t>
            </a:r>
          </a:p>
          <a:p>
            <a:pPr algn="ctr">
              <a:lnSpc>
                <a:spcPct val="115000"/>
              </a:lnSpc>
              <a:spcAft>
                <a:spcPts val="0"/>
              </a:spcAft>
            </a:pPr>
            <a:r>
              <a:rPr lang="ru-RU" sz="1200" dirty="0" err="1">
                <a:solidFill>
                  <a:schemeClr val="bg1"/>
                </a:solidFill>
                <a:latin typeface="Times New Roman" pitchFamily="18" charset="0"/>
                <a:cs typeface="Times New Roman" pitchFamily="18" charset="0"/>
              </a:rPr>
              <a:t>Ақпараттық</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жүйелер</a:t>
            </a:r>
            <a:r>
              <a:rPr lang="ru-RU" sz="1200" dirty="0">
                <a:solidFill>
                  <a:schemeClr val="bg1"/>
                </a:solidFill>
                <a:latin typeface="Times New Roman" pitchFamily="18" charset="0"/>
                <a:cs typeface="Times New Roman" pitchFamily="18" charset="0"/>
              </a:rPr>
              <a:t> </a:t>
            </a:r>
            <a:r>
              <a:rPr lang="ru-RU" sz="1200" dirty="0" err="1">
                <a:solidFill>
                  <a:schemeClr val="bg1"/>
                </a:solidFill>
                <a:latin typeface="Times New Roman" pitchFamily="18" charset="0"/>
                <a:cs typeface="Times New Roman" pitchFamily="18" charset="0"/>
              </a:rPr>
              <a:t>кафедрасы</a:t>
            </a:r>
            <a:endParaRPr lang="ru-RU" sz="1200" dirty="0">
              <a:solidFill>
                <a:schemeClr val="bg1"/>
              </a:solidFill>
              <a:latin typeface="Times New Roman" pitchFamily="18" charset="0"/>
              <a:cs typeface="Times New Roman" pitchFamily="18" charset="0"/>
            </a:endParaRPr>
          </a:p>
        </p:txBody>
      </p:sp>
      <p:sp>
        <p:nvSpPr>
          <p:cNvPr id="8" name="TextBox 7"/>
          <p:cNvSpPr txBox="1"/>
          <p:nvPr/>
        </p:nvSpPr>
        <p:spPr>
          <a:xfrm>
            <a:off x="1263633" y="5971073"/>
            <a:ext cx="6205495" cy="369332"/>
          </a:xfrm>
          <a:prstGeom prst="rect">
            <a:avLst/>
          </a:prstGeom>
          <a:noFill/>
        </p:spPr>
        <p:txBody>
          <a:bodyPr wrap="square" rtlCol="0">
            <a:spAutoFit/>
          </a:bodyPr>
          <a:lstStyle/>
          <a:p>
            <a:pPr algn="ctr"/>
            <a:r>
              <a:rPr lang="ru-RU" dirty="0">
                <a:solidFill>
                  <a:schemeClr val="bg1"/>
                </a:solidFill>
                <a:latin typeface="Times New Roman" pitchFamily="18" charset="0"/>
                <a:cs typeface="Times New Roman" pitchFamily="18" charset="0"/>
              </a:rPr>
              <a:t>Алматы 2026</a:t>
            </a:r>
          </a:p>
        </p:txBody>
      </p:sp>
    </p:spTree>
    <p:extLst>
      <p:ext uri="{BB962C8B-B14F-4D97-AF65-F5344CB8AC3E}">
        <p14:creationId xmlns:p14="http://schemas.microsoft.com/office/powerpoint/2010/main" val="3997840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F696E53A-6968-4272-8BC2-4567D025D9BB}" type="slidenum">
              <a:rPr lang="ru-RU" smtClean="0"/>
              <a:pPr/>
              <a:t>2</a:t>
            </a:fld>
            <a:endParaRPr lang="ru-RU"/>
          </a:p>
        </p:txBody>
      </p:sp>
      <p:sp>
        <p:nvSpPr>
          <p:cNvPr id="3" name="TextBox 2">
            <a:extLst>
              <a:ext uri="{FF2B5EF4-FFF2-40B4-BE49-F238E27FC236}">
                <a16:creationId xmlns:a16="http://schemas.microsoft.com/office/drawing/2014/main" id="{2421A614-4DB2-C357-BA90-19AF75A5330F}"/>
              </a:ext>
            </a:extLst>
          </p:cNvPr>
          <p:cNvSpPr txBox="1"/>
          <p:nvPr/>
        </p:nvSpPr>
        <p:spPr>
          <a:xfrm>
            <a:off x="3564866" y="222788"/>
            <a:ext cx="2014268"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Мазмұны</a:t>
            </a:r>
            <a:endParaRPr lang="ru-RU"/>
          </a:p>
        </p:txBody>
      </p:sp>
      <p:sp>
        <p:nvSpPr>
          <p:cNvPr id="4" name="TextBox 3">
            <a:extLst>
              <a:ext uri="{FF2B5EF4-FFF2-40B4-BE49-F238E27FC236}">
                <a16:creationId xmlns:a16="http://schemas.microsoft.com/office/drawing/2014/main" id="{C24D37FA-69BB-06A5-6811-EDFDF231E8F1}"/>
              </a:ext>
            </a:extLst>
          </p:cNvPr>
          <p:cNvSpPr txBox="1"/>
          <p:nvPr/>
        </p:nvSpPr>
        <p:spPr>
          <a:xfrm>
            <a:off x="163901" y="1242202"/>
            <a:ext cx="455317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1. </a:t>
            </a:r>
            <a:r>
              <a:rPr lang="kk-KZ">
                <a:latin typeface="Times New Roman" panose="02020603050405020304" pitchFamily="18" charset="0"/>
                <a:cs typeface="Times New Roman" panose="02020603050405020304" pitchFamily="18" charset="0"/>
              </a:rPr>
              <a:t>Жобаның өзектілігі және негізгі проблема</a:t>
            </a:r>
            <a:endParaRPr lang="ru-RU">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EB9349A-D7B5-B022-AB83-37D2E6F2E171}"/>
              </a:ext>
            </a:extLst>
          </p:cNvPr>
          <p:cNvSpPr txBox="1"/>
          <p:nvPr/>
        </p:nvSpPr>
        <p:spPr>
          <a:xfrm>
            <a:off x="163901" y="1676841"/>
            <a:ext cx="2876172"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2. </a:t>
            </a:r>
            <a:r>
              <a:rPr lang="kk-KZ">
                <a:latin typeface="Times New Roman" panose="02020603050405020304" pitchFamily="18" charset="0"/>
                <a:cs typeface="Times New Roman" panose="02020603050405020304" pitchFamily="18" charset="0"/>
              </a:rPr>
              <a:t>Мақсаты мен міндеттері</a:t>
            </a:r>
            <a:r>
              <a:rPr lang="en-US">
                <a:latin typeface="Times New Roman" panose="02020603050405020304" pitchFamily="18" charset="0"/>
                <a:cs typeface="Times New Roman" panose="02020603050405020304" pitchFamily="18" charset="0"/>
              </a:rPr>
              <a:t> </a:t>
            </a:r>
            <a:endParaRPr lang="ru-RU">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274E3DF-7D70-0B6C-973C-9A7A42CF6340}"/>
              </a:ext>
            </a:extLst>
          </p:cNvPr>
          <p:cNvSpPr txBox="1"/>
          <p:nvPr/>
        </p:nvSpPr>
        <p:spPr>
          <a:xfrm>
            <a:off x="163901" y="2111480"/>
            <a:ext cx="2991653"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3. </a:t>
            </a:r>
            <a:r>
              <a:rPr lang="kk-KZ">
                <a:latin typeface="Times New Roman" panose="02020603050405020304" pitchFamily="18" charset="0"/>
                <a:cs typeface="Times New Roman" panose="02020603050405020304" pitchFamily="18" charset="0"/>
              </a:rPr>
              <a:t>Ұқсас жобаларды зерттеу</a:t>
            </a:r>
            <a:r>
              <a:rPr lang="en-US">
                <a:latin typeface="Times New Roman" panose="02020603050405020304" pitchFamily="18" charset="0"/>
                <a:cs typeface="Times New Roman" panose="02020603050405020304" pitchFamily="18" charset="0"/>
              </a:rPr>
              <a:t> </a:t>
            </a:r>
            <a:endParaRPr lang="ru-RU">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AE05F50-8EE8-D92E-3A34-7B66A071726E}"/>
              </a:ext>
            </a:extLst>
          </p:cNvPr>
          <p:cNvSpPr txBox="1"/>
          <p:nvPr/>
        </p:nvSpPr>
        <p:spPr>
          <a:xfrm>
            <a:off x="163901" y="2546119"/>
            <a:ext cx="5289012"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4. </a:t>
            </a:r>
            <a:r>
              <a:rPr lang="kk-KZ">
                <a:latin typeface="Times New Roman" panose="02020603050405020304" pitchFamily="18" charset="0"/>
                <a:cs typeface="Times New Roman" panose="02020603050405020304" pitchFamily="18" charset="0"/>
              </a:rPr>
              <a:t>Жүйенің архитектурасы</a:t>
            </a:r>
            <a:r>
              <a:rPr lang="en-US">
                <a:latin typeface="Times New Roman" panose="02020603050405020304" pitchFamily="18" charset="0"/>
                <a:cs typeface="Times New Roman" panose="02020603050405020304" pitchFamily="18" charset="0"/>
              </a:rPr>
              <a:t>. Use Case. ER </a:t>
            </a:r>
            <a:r>
              <a:rPr lang="kk-KZ">
                <a:latin typeface="Times New Roman" panose="02020603050405020304" pitchFamily="18" charset="0"/>
                <a:cs typeface="Times New Roman" panose="02020603050405020304" pitchFamily="18" charset="0"/>
              </a:rPr>
              <a:t>диаграмма</a:t>
            </a:r>
            <a:endParaRPr lang="ru-RU">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BA1CC70-286B-1940-F283-8FCCF96F7B67}"/>
              </a:ext>
            </a:extLst>
          </p:cNvPr>
          <p:cNvSpPr txBox="1"/>
          <p:nvPr/>
        </p:nvSpPr>
        <p:spPr>
          <a:xfrm>
            <a:off x="163901" y="2980758"/>
            <a:ext cx="2492285"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5. RAG </a:t>
            </a:r>
            <a:r>
              <a:rPr lang="kk-KZ">
                <a:latin typeface="Times New Roman" panose="02020603050405020304" pitchFamily="18" charset="0"/>
                <a:cs typeface="Times New Roman" panose="02020603050405020304" pitchFamily="18" charset="0"/>
              </a:rPr>
              <a:t>модуль және </a:t>
            </a:r>
            <a:r>
              <a:rPr lang="en-US">
                <a:latin typeface="Times New Roman" panose="02020603050405020304" pitchFamily="18" charset="0"/>
                <a:cs typeface="Times New Roman" panose="02020603050405020304" pitchFamily="18" charset="0"/>
              </a:rPr>
              <a:t>AI</a:t>
            </a:r>
            <a:endParaRPr lang="ru-RU">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EEBA3D8-BFA1-6C93-00F9-3F9EB38259AA}"/>
              </a:ext>
            </a:extLst>
          </p:cNvPr>
          <p:cNvSpPr txBox="1"/>
          <p:nvPr/>
        </p:nvSpPr>
        <p:spPr>
          <a:xfrm>
            <a:off x="163901" y="3415397"/>
            <a:ext cx="2415020"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6. </a:t>
            </a:r>
            <a:r>
              <a:rPr lang="kk-KZ">
                <a:latin typeface="Times New Roman" panose="02020603050405020304" pitchFamily="18" charset="0"/>
                <a:cs typeface="Times New Roman" panose="02020603050405020304" pitchFamily="18" charset="0"/>
              </a:rPr>
              <a:t>Технологиялық стэк</a:t>
            </a:r>
            <a:endParaRPr lang="ru-RU">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94E996-F155-59C6-3CAE-E758C97463A5}"/>
              </a:ext>
            </a:extLst>
          </p:cNvPr>
          <p:cNvSpPr txBox="1"/>
          <p:nvPr/>
        </p:nvSpPr>
        <p:spPr>
          <a:xfrm>
            <a:off x="163901" y="3850036"/>
            <a:ext cx="3477875"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7. </a:t>
            </a:r>
            <a:r>
              <a:rPr lang="kk-KZ">
                <a:latin typeface="Times New Roman" panose="02020603050405020304" pitchFamily="18" charset="0"/>
                <a:cs typeface="Times New Roman" panose="02020603050405020304" pitchFamily="18" charset="0"/>
              </a:rPr>
              <a:t>Функционалдық мүмкіндіктері</a:t>
            </a:r>
            <a:endParaRPr lang="ru-RU">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D0F525E-EE3D-8CBA-80AB-4422A8D0BF89}"/>
              </a:ext>
            </a:extLst>
          </p:cNvPr>
          <p:cNvSpPr txBox="1"/>
          <p:nvPr/>
        </p:nvSpPr>
        <p:spPr>
          <a:xfrm>
            <a:off x="163901" y="4284675"/>
            <a:ext cx="183979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8. </a:t>
            </a:r>
            <a:r>
              <a:rPr lang="kk-KZ">
                <a:latin typeface="Times New Roman" panose="02020603050405020304" pitchFamily="18" charset="0"/>
                <a:cs typeface="Times New Roman" panose="02020603050405020304" pitchFamily="18" charset="0"/>
              </a:rPr>
              <a:t>Демонстрация</a:t>
            </a:r>
            <a:endParaRPr lang="ru-RU">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4BC7867-D65A-DC5D-01C8-5556614EE60A}"/>
              </a:ext>
            </a:extLst>
          </p:cNvPr>
          <p:cNvSpPr txBox="1"/>
          <p:nvPr/>
        </p:nvSpPr>
        <p:spPr>
          <a:xfrm>
            <a:off x="163901" y="4719314"/>
            <a:ext cx="1608133"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9. </a:t>
            </a:r>
            <a:r>
              <a:rPr lang="kk-KZ">
                <a:latin typeface="Times New Roman" panose="02020603050405020304" pitchFamily="18" charset="0"/>
                <a:cs typeface="Times New Roman" panose="02020603050405020304" pitchFamily="18" charset="0"/>
              </a:rPr>
              <a:t>Қорытынды</a:t>
            </a:r>
            <a:endParaRPr lang="ru-RU">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010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скругленные углы 6">
            <a:extLst>
              <a:ext uri="{FF2B5EF4-FFF2-40B4-BE49-F238E27FC236}">
                <a16:creationId xmlns:a16="http://schemas.microsoft.com/office/drawing/2014/main" id="{FE4BEBB5-AE78-27C1-0A5C-7C13277434D5}"/>
              </a:ext>
            </a:extLst>
          </p:cNvPr>
          <p:cNvSpPr/>
          <p:nvPr/>
        </p:nvSpPr>
        <p:spPr>
          <a:xfrm>
            <a:off x="198409" y="1311214"/>
            <a:ext cx="4117673" cy="360098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endParaRPr lang="ru-RU"/>
          </a:p>
        </p:txBody>
      </p:sp>
      <p:sp>
        <p:nvSpPr>
          <p:cNvPr id="5" name="Номер слайда 4"/>
          <p:cNvSpPr>
            <a:spLocks noGrp="1"/>
          </p:cNvSpPr>
          <p:nvPr>
            <p:ph type="sldNum" sz="quarter" idx="12"/>
          </p:nvPr>
        </p:nvSpPr>
        <p:spPr/>
        <p:txBody>
          <a:bodyPr/>
          <a:lstStyle/>
          <a:p>
            <a:fld id="{F696E53A-6968-4272-8BC2-4567D025D9BB}" type="slidenum">
              <a:rPr lang="ru-RU" smtClean="0"/>
              <a:pPr/>
              <a:t>3</a:t>
            </a:fld>
            <a:endParaRPr lang="ru-RU"/>
          </a:p>
        </p:txBody>
      </p:sp>
      <p:sp>
        <p:nvSpPr>
          <p:cNvPr id="3" name="TextBox 2">
            <a:extLst>
              <a:ext uri="{FF2B5EF4-FFF2-40B4-BE49-F238E27FC236}">
                <a16:creationId xmlns:a16="http://schemas.microsoft.com/office/drawing/2014/main" id="{9058900C-2C0B-B146-9089-3EB736FEDD36}"/>
              </a:ext>
            </a:extLst>
          </p:cNvPr>
          <p:cNvSpPr txBox="1"/>
          <p:nvPr/>
        </p:nvSpPr>
        <p:spPr>
          <a:xfrm>
            <a:off x="1777042" y="0"/>
            <a:ext cx="5589916" cy="1077218"/>
          </a:xfrm>
          <a:prstGeom prst="rect">
            <a:avLst/>
          </a:prstGeom>
          <a:noFill/>
        </p:spPr>
        <p:txBody>
          <a:bodyPr wrap="square">
            <a:spAutoFit/>
          </a:bodyPr>
          <a:lstStyle/>
          <a:p>
            <a:pPr algn="ctr"/>
            <a:r>
              <a:rPr lang="kk-KZ" sz="3200">
                <a:solidFill>
                  <a:schemeClr val="bg1"/>
                </a:solidFill>
                <a:latin typeface="Times New Roman" panose="02020603050405020304" pitchFamily="18" charset="0"/>
                <a:cs typeface="Times New Roman" panose="02020603050405020304" pitchFamily="18" charset="0"/>
              </a:rPr>
              <a:t>Жобаның өзектілігі мен негізгі проблема</a:t>
            </a:r>
            <a:endParaRPr lang="ru-RU"/>
          </a:p>
        </p:txBody>
      </p:sp>
      <p:sp>
        <p:nvSpPr>
          <p:cNvPr id="4" name="TextBox 3">
            <a:extLst>
              <a:ext uri="{FF2B5EF4-FFF2-40B4-BE49-F238E27FC236}">
                <a16:creationId xmlns:a16="http://schemas.microsoft.com/office/drawing/2014/main" id="{7DCD1ACE-5F52-EFCC-244E-EA2F53DA12A6}"/>
              </a:ext>
            </a:extLst>
          </p:cNvPr>
          <p:cNvSpPr txBox="1"/>
          <p:nvPr/>
        </p:nvSpPr>
        <p:spPr>
          <a:xfrm>
            <a:off x="1514990" y="1311214"/>
            <a:ext cx="1484509" cy="461665"/>
          </a:xfrm>
          <a:prstGeom prst="rect">
            <a:avLst/>
          </a:prstGeom>
          <a:noFill/>
        </p:spPr>
        <p:txBody>
          <a:bodyPr wrap="none" rtlCol="0">
            <a:spAutoFit/>
          </a:bodyPr>
          <a:lstStyle/>
          <a:p>
            <a:r>
              <a:rPr lang="kk-KZ" sz="2400">
                <a:solidFill>
                  <a:srgbClr val="FF0000"/>
                </a:solidFill>
                <a:latin typeface="Times New Roman" panose="02020603050405020304" pitchFamily="18" charset="0"/>
                <a:cs typeface="Times New Roman" panose="02020603050405020304" pitchFamily="18" charset="0"/>
              </a:rPr>
              <a:t>Проблема</a:t>
            </a:r>
            <a:endParaRPr lang="ru-RU" sz="2400">
              <a:solidFill>
                <a:srgbClr val="FF0000"/>
              </a:solidFill>
              <a:latin typeface="Times New Roman" panose="02020603050405020304" pitchFamily="18" charset="0"/>
              <a:cs typeface="Times New Roman" panose="02020603050405020304" pitchFamily="18" charset="0"/>
            </a:endParaRPr>
          </a:p>
        </p:txBody>
      </p:sp>
      <p:sp>
        <p:nvSpPr>
          <p:cNvPr id="11" name="Прямоугольник: скругленные углы 10">
            <a:extLst>
              <a:ext uri="{FF2B5EF4-FFF2-40B4-BE49-F238E27FC236}">
                <a16:creationId xmlns:a16="http://schemas.microsoft.com/office/drawing/2014/main" id="{DB600CE0-D2AE-44A6-09E2-601E92598DFC}"/>
              </a:ext>
            </a:extLst>
          </p:cNvPr>
          <p:cNvSpPr/>
          <p:nvPr/>
        </p:nvSpPr>
        <p:spPr>
          <a:xfrm>
            <a:off x="4827918" y="1311214"/>
            <a:ext cx="4117673" cy="360098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endParaRPr lang="ru-RU"/>
          </a:p>
        </p:txBody>
      </p:sp>
      <p:sp>
        <p:nvSpPr>
          <p:cNvPr id="12" name="TextBox 11">
            <a:extLst>
              <a:ext uri="{FF2B5EF4-FFF2-40B4-BE49-F238E27FC236}">
                <a16:creationId xmlns:a16="http://schemas.microsoft.com/office/drawing/2014/main" id="{C5D60030-A018-7E5C-505F-5A2DF3C0C05F}"/>
              </a:ext>
            </a:extLst>
          </p:cNvPr>
          <p:cNvSpPr txBox="1"/>
          <p:nvPr/>
        </p:nvSpPr>
        <p:spPr>
          <a:xfrm>
            <a:off x="6144501" y="1311214"/>
            <a:ext cx="1591590" cy="461665"/>
          </a:xfrm>
          <a:prstGeom prst="rect">
            <a:avLst/>
          </a:prstGeom>
          <a:noFill/>
        </p:spPr>
        <p:txBody>
          <a:bodyPr wrap="none" rtlCol="0">
            <a:spAutoFit/>
          </a:bodyPr>
          <a:lstStyle/>
          <a:p>
            <a:r>
              <a:rPr lang="kk-KZ" sz="2400">
                <a:solidFill>
                  <a:srgbClr val="00B050"/>
                </a:solidFill>
                <a:latin typeface="Times New Roman" panose="02020603050405020304" pitchFamily="18" charset="0"/>
                <a:cs typeface="Times New Roman" panose="02020603050405020304" pitchFamily="18" charset="0"/>
              </a:rPr>
              <a:t>Тенденция</a:t>
            </a:r>
            <a:endParaRPr lang="ru-RU" sz="2400">
              <a:solidFill>
                <a:srgbClr val="00B05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8BBDDF7-72EC-05CD-D6E2-6E037BDC1F1D}"/>
              </a:ext>
            </a:extLst>
          </p:cNvPr>
          <p:cNvSpPr txBox="1"/>
          <p:nvPr/>
        </p:nvSpPr>
        <p:spPr>
          <a:xfrm>
            <a:off x="527647" y="1772879"/>
            <a:ext cx="3459193" cy="923330"/>
          </a:xfrm>
          <a:prstGeom prst="rect">
            <a:avLst/>
          </a:prstGeom>
          <a:noFill/>
        </p:spPr>
        <p:txBody>
          <a:bodyPr wrap="square" rtlCol="0">
            <a:spAutoFit/>
          </a:bodyPr>
          <a:lstStyle/>
          <a:p>
            <a:r>
              <a:rPr lang="en-US"/>
              <a:t>1. </a:t>
            </a:r>
            <a:r>
              <a:rPr lang="ru-RU"/>
              <a:t>20 сұрақтан тұратын бір сапалы тест құруға </a:t>
            </a:r>
            <a:r>
              <a:rPr lang="en-US"/>
              <a:t>2</a:t>
            </a:r>
            <a:r>
              <a:rPr lang="ru-RU"/>
              <a:t>-</a:t>
            </a:r>
            <a:r>
              <a:rPr lang="en-US"/>
              <a:t>3</a:t>
            </a:r>
            <a:r>
              <a:rPr lang="ru-RU"/>
              <a:t> сағат жұмса</a:t>
            </a:r>
            <a:r>
              <a:rPr lang="kk-KZ"/>
              <a:t>ла</a:t>
            </a:r>
            <a:r>
              <a:rPr lang="ru-RU"/>
              <a:t>ды</a:t>
            </a:r>
          </a:p>
        </p:txBody>
      </p:sp>
      <p:sp>
        <p:nvSpPr>
          <p:cNvPr id="14" name="TextBox 13">
            <a:extLst>
              <a:ext uri="{FF2B5EF4-FFF2-40B4-BE49-F238E27FC236}">
                <a16:creationId xmlns:a16="http://schemas.microsoft.com/office/drawing/2014/main" id="{0652F3FE-96AE-E49D-36A1-4C988C0924CC}"/>
              </a:ext>
            </a:extLst>
          </p:cNvPr>
          <p:cNvSpPr txBox="1"/>
          <p:nvPr/>
        </p:nvSpPr>
        <p:spPr>
          <a:xfrm>
            <a:off x="527646" y="2696209"/>
            <a:ext cx="3459193" cy="646331"/>
          </a:xfrm>
          <a:prstGeom prst="rect">
            <a:avLst/>
          </a:prstGeom>
          <a:noFill/>
        </p:spPr>
        <p:txBody>
          <a:bodyPr wrap="square" rtlCol="0">
            <a:spAutoFit/>
          </a:bodyPr>
          <a:lstStyle/>
          <a:p>
            <a:r>
              <a:rPr lang="en-US"/>
              <a:t>2. </a:t>
            </a:r>
            <a:r>
              <a:rPr lang="kk-KZ"/>
              <a:t>Тесттердегі сұрақтар жиі қайталанады</a:t>
            </a:r>
            <a:endParaRPr lang="ru-RU"/>
          </a:p>
        </p:txBody>
      </p:sp>
      <p:sp>
        <p:nvSpPr>
          <p:cNvPr id="15" name="TextBox 14">
            <a:extLst>
              <a:ext uri="{FF2B5EF4-FFF2-40B4-BE49-F238E27FC236}">
                <a16:creationId xmlns:a16="http://schemas.microsoft.com/office/drawing/2014/main" id="{A55F8AE2-72BC-27A6-8C74-2F81542ACE8B}"/>
              </a:ext>
            </a:extLst>
          </p:cNvPr>
          <p:cNvSpPr txBox="1"/>
          <p:nvPr/>
        </p:nvSpPr>
        <p:spPr>
          <a:xfrm>
            <a:off x="527646" y="3342540"/>
            <a:ext cx="3459193" cy="646331"/>
          </a:xfrm>
          <a:prstGeom prst="rect">
            <a:avLst/>
          </a:prstGeom>
          <a:noFill/>
        </p:spPr>
        <p:txBody>
          <a:bodyPr wrap="square" rtlCol="0">
            <a:spAutoFit/>
          </a:bodyPr>
          <a:lstStyle/>
          <a:p>
            <a:r>
              <a:rPr lang="en-US"/>
              <a:t>3. </a:t>
            </a:r>
            <a:r>
              <a:rPr lang="kk-KZ"/>
              <a:t>Жауаптарды қолмен тексеруге көп уақыт кетеді</a:t>
            </a:r>
            <a:endParaRPr lang="ru-RU"/>
          </a:p>
        </p:txBody>
      </p:sp>
      <p:sp>
        <p:nvSpPr>
          <p:cNvPr id="16" name="TextBox 15">
            <a:extLst>
              <a:ext uri="{FF2B5EF4-FFF2-40B4-BE49-F238E27FC236}">
                <a16:creationId xmlns:a16="http://schemas.microsoft.com/office/drawing/2014/main" id="{6C97A57F-2974-E61F-76CD-47C5C1B9F184}"/>
              </a:ext>
            </a:extLst>
          </p:cNvPr>
          <p:cNvSpPr txBox="1"/>
          <p:nvPr/>
        </p:nvSpPr>
        <p:spPr>
          <a:xfrm>
            <a:off x="527645" y="3988871"/>
            <a:ext cx="3459193" cy="923330"/>
          </a:xfrm>
          <a:prstGeom prst="rect">
            <a:avLst/>
          </a:prstGeom>
          <a:noFill/>
        </p:spPr>
        <p:txBody>
          <a:bodyPr wrap="square" rtlCol="0">
            <a:spAutoFit/>
          </a:bodyPr>
          <a:lstStyle/>
          <a:p>
            <a:r>
              <a:rPr lang="en-US"/>
              <a:t>3. </a:t>
            </a:r>
            <a:r>
              <a:rPr lang="kk-KZ"/>
              <a:t>Материалды белгілі бір тақырыпқа немесе құжатқа бейімдеу қиын</a:t>
            </a:r>
            <a:endParaRPr lang="ru-RU"/>
          </a:p>
        </p:txBody>
      </p:sp>
      <p:sp>
        <p:nvSpPr>
          <p:cNvPr id="17" name="TextBox 16">
            <a:extLst>
              <a:ext uri="{FF2B5EF4-FFF2-40B4-BE49-F238E27FC236}">
                <a16:creationId xmlns:a16="http://schemas.microsoft.com/office/drawing/2014/main" id="{F8EE5F2C-B1B6-B568-6E4B-9A9357A4F920}"/>
              </a:ext>
            </a:extLst>
          </p:cNvPr>
          <p:cNvSpPr txBox="1"/>
          <p:nvPr/>
        </p:nvSpPr>
        <p:spPr>
          <a:xfrm>
            <a:off x="5157160" y="1772879"/>
            <a:ext cx="3459193" cy="369332"/>
          </a:xfrm>
          <a:prstGeom prst="rect">
            <a:avLst/>
          </a:prstGeom>
          <a:noFill/>
        </p:spPr>
        <p:txBody>
          <a:bodyPr wrap="square" rtlCol="0">
            <a:spAutoFit/>
          </a:bodyPr>
          <a:lstStyle/>
          <a:p>
            <a:r>
              <a:rPr lang="en-US"/>
              <a:t>1. </a:t>
            </a:r>
            <a:r>
              <a:rPr lang="kk-KZ"/>
              <a:t>ИИ қолдануы артуда</a:t>
            </a:r>
            <a:endParaRPr lang="ru-RU"/>
          </a:p>
        </p:txBody>
      </p:sp>
      <p:sp>
        <p:nvSpPr>
          <p:cNvPr id="18" name="TextBox 17">
            <a:extLst>
              <a:ext uri="{FF2B5EF4-FFF2-40B4-BE49-F238E27FC236}">
                <a16:creationId xmlns:a16="http://schemas.microsoft.com/office/drawing/2014/main" id="{795D21FD-DC76-021E-B9EA-1B650333183E}"/>
              </a:ext>
            </a:extLst>
          </p:cNvPr>
          <p:cNvSpPr txBox="1"/>
          <p:nvPr/>
        </p:nvSpPr>
        <p:spPr>
          <a:xfrm>
            <a:off x="5157160" y="2191541"/>
            <a:ext cx="3459193" cy="646331"/>
          </a:xfrm>
          <a:prstGeom prst="rect">
            <a:avLst/>
          </a:prstGeom>
          <a:noFill/>
        </p:spPr>
        <p:txBody>
          <a:bodyPr wrap="square" rtlCol="0">
            <a:spAutoFit/>
          </a:bodyPr>
          <a:lstStyle/>
          <a:p>
            <a:r>
              <a:rPr lang="en-US"/>
              <a:t>2. LLM </a:t>
            </a:r>
            <a:r>
              <a:rPr lang="kk-KZ"/>
              <a:t>маңызды оқу сұрақтарын дайындау деңгейге жетті</a:t>
            </a:r>
            <a:endParaRPr lang="ru-RU"/>
          </a:p>
        </p:txBody>
      </p:sp>
      <p:sp>
        <p:nvSpPr>
          <p:cNvPr id="19" name="TextBox 18">
            <a:extLst>
              <a:ext uri="{FF2B5EF4-FFF2-40B4-BE49-F238E27FC236}">
                <a16:creationId xmlns:a16="http://schemas.microsoft.com/office/drawing/2014/main" id="{7EA44821-72FB-D45F-1961-3F7C213DACAA}"/>
              </a:ext>
            </a:extLst>
          </p:cNvPr>
          <p:cNvSpPr txBox="1"/>
          <p:nvPr/>
        </p:nvSpPr>
        <p:spPr>
          <a:xfrm>
            <a:off x="5157157" y="2887202"/>
            <a:ext cx="3459193" cy="1200329"/>
          </a:xfrm>
          <a:prstGeom prst="rect">
            <a:avLst/>
          </a:prstGeom>
          <a:noFill/>
        </p:spPr>
        <p:txBody>
          <a:bodyPr wrap="square" rtlCol="0">
            <a:spAutoFit/>
          </a:bodyPr>
          <a:lstStyle/>
          <a:p>
            <a:r>
              <a:rPr lang="en-US"/>
              <a:t>3. RAG </a:t>
            </a:r>
            <a:r>
              <a:rPr lang="ru-RU"/>
              <a:t>технологиясы жүктелген материалдардың мазмұны</a:t>
            </a:r>
            <a:r>
              <a:rPr lang="kk-KZ"/>
              <a:t>на қатысты </a:t>
            </a:r>
            <a:r>
              <a:rPr lang="ru-RU"/>
              <a:t>сұрақтар туғызуға мүмкіндік береді</a:t>
            </a:r>
          </a:p>
        </p:txBody>
      </p:sp>
      <p:sp>
        <p:nvSpPr>
          <p:cNvPr id="21" name="TextBox 20">
            <a:extLst>
              <a:ext uri="{FF2B5EF4-FFF2-40B4-BE49-F238E27FC236}">
                <a16:creationId xmlns:a16="http://schemas.microsoft.com/office/drawing/2014/main" id="{E4ED24BB-36AA-A742-C24B-198BC60AC321}"/>
              </a:ext>
            </a:extLst>
          </p:cNvPr>
          <p:cNvSpPr txBox="1"/>
          <p:nvPr/>
        </p:nvSpPr>
        <p:spPr>
          <a:xfrm>
            <a:off x="99204" y="5338584"/>
            <a:ext cx="8945591" cy="1200329"/>
          </a:xfrm>
          <a:prstGeom prst="rect">
            <a:avLst/>
          </a:prstGeom>
          <a:noFill/>
        </p:spPr>
        <p:txBody>
          <a:bodyPr wrap="square">
            <a:spAutoFit/>
          </a:bodyPr>
          <a:lstStyle/>
          <a:p>
            <a:pPr algn="just"/>
            <a:r>
              <a:rPr lang="ru-RU"/>
              <a:t>Тест материалдарын жасау көп уақыт қажет ететін процесс. Сонымен қатар, заманауи тілдік модельдер нақты оқу материалдарына сүйене отырып, сапалы сұрақтарды автоматты түрде жасауға мүмкіндік береді. Бұл мәселені танымал құралдардың ешқайсысы шеше алмайды</a:t>
            </a:r>
            <a:r>
              <a:rPr lang="en-US"/>
              <a:t>. </a:t>
            </a:r>
            <a:r>
              <a:rPr lang="kk-KZ"/>
              <a:t>Біздің сервис осы проблемаларды шешеді</a:t>
            </a:r>
            <a:endParaRPr lang="ru-RU"/>
          </a:p>
        </p:txBody>
      </p:sp>
    </p:spTree>
    <p:extLst>
      <p:ext uri="{BB962C8B-B14F-4D97-AF65-F5344CB8AC3E}">
        <p14:creationId xmlns:p14="http://schemas.microsoft.com/office/powerpoint/2010/main" val="738821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B73C0A82-5C78-1617-6A4A-E44D523DCCBC}"/>
              </a:ext>
            </a:extLst>
          </p:cNvPr>
          <p:cNvSpPr>
            <a:spLocks noGrp="1"/>
          </p:cNvSpPr>
          <p:nvPr>
            <p:ph type="sldNum" sz="quarter" idx="12"/>
          </p:nvPr>
        </p:nvSpPr>
        <p:spPr/>
        <p:txBody>
          <a:bodyPr/>
          <a:lstStyle/>
          <a:p>
            <a:fld id="{F696E53A-6968-4272-8BC2-4567D025D9BB}" type="slidenum">
              <a:rPr lang="ru-RU" smtClean="0"/>
              <a:pPr/>
              <a:t>4</a:t>
            </a:fld>
            <a:endParaRPr lang="ru-RU"/>
          </a:p>
        </p:txBody>
      </p:sp>
      <p:sp>
        <p:nvSpPr>
          <p:cNvPr id="5" name="TextBox 4">
            <a:extLst>
              <a:ext uri="{FF2B5EF4-FFF2-40B4-BE49-F238E27FC236}">
                <a16:creationId xmlns:a16="http://schemas.microsoft.com/office/drawing/2014/main" id="{E437E7F6-0FE6-CA33-1962-6E22C65FE643}"/>
              </a:ext>
            </a:extLst>
          </p:cNvPr>
          <p:cNvSpPr txBox="1"/>
          <p:nvPr/>
        </p:nvSpPr>
        <p:spPr>
          <a:xfrm>
            <a:off x="2354201" y="265920"/>
            <a:ext cx="4435597"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Мақсаты мен міндеттері</a:t>
            </a:r>
            <a:endParaRPr lang="ru-RU"/>
          </a:p>
        </p:txBody>
      </p:sp>
      <p:sp>
        <p:nvSpPr>
          <p:cNvPr id="6" name="TextBox 5">
            <a:extLst>
              <a:ext uri="{FF2B5EF4-FFF2-40B4-BE49-F238E27FC236}">
                <a16:creationId xmlns:a16="http://schemas.microsoft.com/office/drawing/2014/main" id="{9050DF0D-61BD-5F51-2FF5-17F96DB663BB}"/>
              </a:ext>
            </a:extLst>
          </p:cNvPr>
          <p:cNvSpPr txBox="1"/>
          <p:nvPr/>
        </p:nvSpPr>
        <p:spPr>
          <a:xfrm>
            <a:off x="0" y="1302589"/>
            <a:ext cx="9152626" cy="1200329"/>
          </a:xfrm>
          <a:prstGeom prst="rect">
            <a:avLst/>
          </a:prstGeom>
          <a:noFill/>
        </p:spPr>
        <p:txBody>
          <a:bodyPr wrap="square" rtlCol="0">
            <a:spAutoFit/>
          </a:bodyPr>
          <a:lstStyle/>
          <a:p>
            <a:r>
              <a:rPr lang="kk-KZ" b="1"/>
              <a:t>Мақсаты</a:t>
            </a:r>
            <a:endParaRPr lang="en-US" b="1"/>
          </a:p>
          <a:p>
            <a:endParaRPr lang="en-US"/>
          </a:p>
          <a:p>
            <a:r>
              <a:rPr lang="en-US">
                <a:highlight>
                  <a:srgbClr val="C0C0C0"/>
                </a:highlight>
              </a:rPr>
              <a:t>AI </a:t>
            </a:r>
            <a:r>
              <a:rPr lang="ru-RU">
                <a:highlight>
                  <a:srgbClr val="C0C0C0"/>
                </a:highlight>
              </a:rPr>
              <a:t>технологияларын қолдана отырып, оқу тапсырмаларын автоматтандырылған генерациялау және тестілеудің бұлтты сервисін әзірлеу</a:t>
            </a:r>
          </a:p>
        </p:txBody>
      </p:sp>
      <p:sp>
        <p:nvSpPr>
          <p:cNvPr id="8" name="TextBox 7">
            <a:extLst>
              <a:ext uri="{FF2B5EF4-FFF2-40B4-BE49-F238E27FC236}">
                <a16:creationId xmlns:a16="http://schemas.microsoft.com/office/drawing/2014/main" id="{616D508B-1A01-C23A-C909-2E7F98892F22}"/>
              </a:ext>
            </a:extLst>
          </p:cNvPr>
          <p:cNvSpPr txBox="1"/>
          <p:nvPr/>
        </p:nvSpPr>
        <p:spPr>
          <a:xfrm>
            <a:off x="101359" y="2820188"/>
            <a:ext cx="7938459" cy="3416320"/>
          </a:xfrm>
          <a:prstGeom prst="rect">
            <a:avLst/>
          </a:prstGeom>
          <a:noFill/>
        </p:spPr>
        <p:txBody>
          <a:bodyPr wrap="square">
            <a:spAutoFit/>
          </a:bodyPr>
          <a:lstStyle/>
          <a:p>
            <a:pPr>
              <a:buNone/>
            </a:pPr>
            <a:r>
              <a:rPr lang="ru-RU" b="1"/>
              <a:t>Міндеттері</a:t>
            </a:r>
            <a:endParaRPr lang="en-US" b="1"/>
          </a:p>
          <a:p>
            <a:pPr>
              <a:buNone/>
            </a:pPr>
            <a:endParaRPr lang="ru-RU" b="1"/>
          </a:p>
          <a:p>
            <a:pPr>
              <a:buFont typeface="Arial" panose="020B0604020202020204" pitchFamily="34" charset="0"/>
              <a:buChar char="•"/>
            </a:pPr>
            <a:r>
              <a:rPr lang="en-US"/>
              <a:t> </a:t>
            </a:r>
            <a:r>
              <a:rPr lang="ru-RU"/>
              <a:t>Оқытуды басқарудың қолданыстағы жүйелеріне талдау жасау және олардың кемшіліктерін анықтау</a:t>
            </a:r>
            <a:r>
              <a:rPr lang="en-US"/>
              <a:t>;</a:t>
            </a:r>
            <a:endParaRPr lang="ru-RU"/>
          </a:p>
          <a:p>
            <a:pPr>
              <a:buFont typeface="Arial" panose="020B0604020202020204" pitchFamily="34" charset="0"/>
              <a:buChar char="•"/>
            </a:pPr>
            <a:r>
              <a:rPr lang="en-US"/>
              <a:t> </a:t>
            </a:r>
            <a:r>
              <a:rPr lang="ru-RU"/>
              <a:t>Модульдік құрылымы бар бұлттық сервистің архитектурасын жобалау</a:t>
            </a:r>
            <a:r>
              <a:rPr lang="en-US"/>
              <a:t>;</a:t>
            </a:r>
            <a:endParaRPr lang="ru-RU"/>
          </a:p>
          <a:p>
            <a:pPr>
              <a:buFont typeface="Arial" panose="020B0604020202020204" pitchFamily="34" charset="0"/>
              <a:buChar char="•"/>
            </a:pPr>
            <a:r>
              <a:rPr lang="en-US"/>
              <a:t> </a:t>
            </a:r>
            <a:r>
              <a:rPr lang="ru-RU"/>
              <a:t>Оқу материалдары негізінде контент генерациялау үшін </a:t>
            </a:r>
            <a:r>
              <a:rPr lang="en-US"/>
              <a:t>RAG</a:t>
            </a:r>
            <a:r>
              <a:rPr lang="kk-KZ"/>
              <a:t> </a:t>
            </a:r>
            <a:r>
              <a:rPr lang="ru-RU"/>
              <a:t>пайплайнын іске асыру</a:t>
            </a:r>
            <a:r>
              <a:rPr lang="en-US"/>
              <a:t>;</a:t>
            </a:r>
            <a:endParaRPr lang="ru-RU"/>
          </a:p>
          <a:p>
            <a:pPr>
              <a:buFont typeface="Arial" panose="020B0604020202020204" pitchFamily="34" charset="0"/>
              <a:buChar char="•"/>
            </a:pPr>
            <a:r>
              <a:rPr lang="en-US"/>
              <a:t> </a:t>
            </a:r>
            <a:r>
              <a:rPr lang="kk-KZ"/>
              <a:t>Т</a:t>
            </a:r>
            <a:r>
              <a:rPr lang="ru-RU"/>
              <a:t>ілдік модельдерді интеграциялау</a:t>
            </a:r>
            <a:r>
              <a:rPr lang="en-US"/>
              <a:t>;</a:t>
            </a:r>
            <a:endParaRPr lang="ru-RU"/>
          </a:p>
          <a:p>
            <a:pPr>
              <a:buFont typeface="Arial" panose="020B0604020202020204" pitchFamily="34" charset="0"/>
              <a:buChar char="•"/>
            </a:pPr>
            <a:r>
              <a:rPr lang="en-US"/>
              <a:t> </a:t>
            </a:r>
            <a:r>
              <a:rPr lang="ru-RU"/>
              <a:t>Мұғалім және студент рөлдеріне арналған пайдаланушы интерфейсін әзірлеу</a:t>
            </a:r>
            <a:r>
              <a:rPr lang="en-US"/>
              <a:t>;</a:t>
            </a:r>
            <a:endParaRPr lang="ru-RU"/>
          </a:p>
          <a:p>
            <a:pPr>
              <a:buFont typeface="Arial" panose="020B0604020202020204" pitchFamily="34" charset="0"/>
              <a:buChar char="•"/>
            </a:pPr>
            <a:r>
              <a:rPr lang="en-US"/>
              <a:t> </a:t>
            </a:r>
            <a:r>
              <a:rPr lang="ru-RU"/>
              <a:t>Үлгерім аналитикасы бар тестілеу жүйесін іске асыру</a:t>
            </a:r>
            <a:r>
              <a:rPr lang="en-US"/>
              <a:t>;</a:t>
            </a:r>
            <a:endParaRPr lang="ru-RU"/>
          </a:p>
          <a:p>
            <a:pPr>
              <a:buFont typeface="Arial" panose="020B0604020202020204" pitchFamily="34" charset="0"/>
              <a:buChar char="•"/>
            </a:pPr>
            <a:r>
              <a:rPr lang="en-US"/>
              <a:t> </a:t>
            </a:r>
            <a:r>
              <a:rPr lang="ru-RU"/>
              <a:t>Жүйені контейнерлеу және орналастыруға дайындау</a:t>
            </a:r>
            <a:r>
              <a:rPr lang="en-US"/>
              <a:t>;</a:t>
            </a:r>
            <a:endParaRPr lang="ru-RU"/>
          </a:p>
        </p:txBody>
      </p:sp>
    </p:spTree>
    <p:extLst>
      <p:ext uri="{BB962C8B-B14F-4D97-AF65-F5344CB8AC3E}">
        <p14:creationId xmlns:p14="http://schemas.microsoft.com/office/powerpoint/2010/main" val="358082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F696E53A-6968-4272-8BC2-4567D025D9BB}" type="slidenum">
              <a:rPr lang="ru-RU" smtClean="0"/>
              <a:pPr/>
              <a:t>5</a:t>
            </a:fld>
            <a:endParaRPr lang="ru-RU"/>
          </a:p>
        </p:txBody>
      </p:sp>
      <p:sp>
        <p:nvSpPr>
          <p:cNvPr id="2" name="TextBox 1">
            <a:extLst>
              <a:ext uri="{FF2B5EF4-FFF2-40B4-BE49-F238E27FC236}">
                <a16:creationId xmlns:a16="http://schemas.microsoft.com/office/drawing/2014/main" id="{C9D44F81-8C3D-60A7-325F-8A62BC96F601}"/>
              </a:ext>
            </a:extLst>
          </p:cNvPr>
          <p:cNvSpPr txBox="1"/>
          <p:nvPr/>
        </p:nvSpPr>
        <p:spPr>
          <a:xfrm>
            <a:off x="2249875" y="265920"/>
            <a:ext cx="4644247"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Ұқсас жобаларды зерттеу</a:t>
            </a:r>
            <a:endParaRPr lang="ru-RU"/>
          </a:p>
        </p:txBody>
      </p:sp>
      <p:graphicFrame>
        <p:nvGraphicFramePr>
          <p:cNvPr id="8" name="Таблица 7">
            <a:extLst>
              <a:ext uri="{FF2B5EF4-FFF2-40B4-BE49-F238E27FC236}">
                <a16:creationId xmlns:a16="http://schemas.microsoft.com/office/drawing/2014/main" id="{093FDD6C-B5F7-A115-2AD4-F44D0ED8B110}"/>
              </a:ext>
            </a:extLst>
          </p:cNvPr>
          <p:cNvGraphicFramePr>
            <a:graphicFrameLocks noGrp="1"/>
          </p:cNvGraphicFramePr>
          <p:nvPr>
            <p:extLst>
              <p:ext uri="{D42A27DB-BD31-4B8C-83A1-F6EECF244321}">
                <p14:modId xmlns:p14="http://schemas.microsoft.com/office/powerpoint/2010/main" val="2434711133"/>
              </p:ext>
            </p:extLst>
          </p:nvPr>
        </p:nvGraphicFramePr>
        <p:xfrm>
          <a:off x="285209" y="1191851"/>
          <a:ext cx="8573581" cy="5286677"/>
        </p:xfrm>
        <a:graphic>
          <a:graphicData uri="http://schemas.openxmlformats.org/drawingml/2006/table">
            <a:tbl>
              <a:tblPr/>
              <a:tblGrid>
                <a:gridCol w="1242350">
                  <a:extLst>
                    <a:ext uri="{9D8B030D-6E8A-4147-A177-3AD203B41FA5}">
                      <a16:colId xmlns:a16="http://schemas.microsoft.com/office/drawing/2014/main" val="2635322056"/>
                    </a:ext>
                  </a:extLst>
                </a:gridCol>
                <a:gridCol w="1242350">
                  <a:extLst>
                    <a:ext uri="{9D8B030D-6E8A-4147-A177-3AD203B41FA5}">
                      <a16:colId xmlns:a16="http://schemas.microsoft.com/office/drawing/2014/main" val="1124858029"/>
                    </a:ext>
                  </a:extLst>
                </a:gridCol>
                <a:gridCol w="1242350">
                  <a:extLst>
                    <a:ext uri="{9D8B030D-6E8A-4147-A177-3AD203B41FA5}">
                      <a16:colId xmlns:a16="http://schemas.microsoft.com/office/drawing/2014/main" val="848884055"/>
                    </a:ext>
                  </a:extLst>
                </a:gridCol>
                <a:gridCol w="1242350">
                  <a:extLst>
                    <a:ext uri="{9D8B030D-6E8A-4147-A177-3AD203B41FA5}">
                      <a16:colId xmlns:a16="http://schemas.microsoft.com/office/drawing/2014/main" val="3351392348"/>
                    </a:ext>
                  </a:extLst>
                </a:gridCol>
                <a:gridCol w="1242350">
                  <a:extLst>
                    <a:ext uri="{9D8B030D-6E8A-4147-A177-3AD203B41FA5}">
                      <a16:colId xmlns:a16="http://schemas.microsoft.com/office/drawing/2014/main" val="136913616"/>
                    </a:ext>
                  </a:extLst>
                </a:gridCol>
                <a:gridCol w="1242350">
                  <a:extLst>
                    <a:ext uri="{9D8B030D-6E8A-4147-A177-3AD203B41FA5}">
                      <a16:colId xmlns:a16="http://schemas.microsoft.com/office/drawing/2014/main" val="129088191"/>
                    </a:ext>
                  </a:extLst>
                </a:gridCol>
                <a:gridCol w="1119481">
                  <a:extLst>
                    <a:ext uri="{9D8B030D-6E8A-4147-A177-3AD203B41FA5}">
                      <a16:colId xmlns:a16="http://schemas.microsoft.com/office/drawing/2014/main" val="313050144"/>
                    </a:ext>
                  </a:extLst>
                </a:gridCol>
              </a:tblGrid>
              <a:tr h="607475">
                <a:tc>
                  <a:txBody>
                    <a:bodyPr/>
                    <a:lstStyle/>
                    <a:p>
                      <a:pPr algn="ctr" rtl="0">
                        <a:buNone/>
                      </a:pPr>
                      <a:r>
                        <a:rPr lang="ru-RU" sz="800" b="1">
                          <a:solidFill>
                            <a:srgbClr val="1F1F1F"/>
                          </a:solidFill>
                          <a:effectLst/>
                          <a:latin typeface="Google Sans Text"/>
                        </a:rPr>
                        <a:t>Критерийлер</a:t>
                      </a:r>
                      <a:endParaRPr lang="ru-RU"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en-US" sz="800" b="1">
                          <a:solidFill>
                            <a:srgbClr val="1F1F1F"/>
                          </a:solidFill>
                          <a:effectLst/>
                          <a:latin typeface="Google Sans Text"/>
                        </a:rPr>
                        <a:t>Moodle</a:t>
                      </a:r>
                      <a:endParaRPr lang="en-US"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en-US" sz="800" b="1">
                          <a:solidFill>
                            <a:srgbClr val="1F1F1F"/>
                          </a:solidFill>
                          <a:effectLst/>
                          <a:latin typeface="Google Sans Text"/>
                        </a:rPr>
                        <a:t>Google Classroom</a:t>
                      </a:r>
                      <a:endParaRPr lang="en-US"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en-US" sz="800" b="1">
                          <a:solidFill>
                            <a:srgbClr val="1F1F1F"/>
                          </a:solidFill>
                          <a:effectLst/>
                          <a:latin typeface="Google Sans Text"/>
                        </a:rPr>
                        <a:t>Khan Academy</a:t>
                      </a:r>
                      <a:endParaRPr lang="en-US"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en-US" sz="800" b="1">
                          <a:solidFill>
                            <a:srgbClr val="1F1F1F"/>
                          </a:solidFill>
                          <a:effectLst/>
                          <a:latin typeface="Google Sans Text"/>
                        </a:rPr>
                        <a:t>Kahoot!</a:t>
                      </a:r>
                      <a:endParaRPr lang="en-US"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en-US" sz="800" b="1">
                          <a:solidFill>
                            <a:srgbClr val="1F1F1F"/>
                          </a:solidFill>
                          <a:effectLst/>
                          <a:latin typeface="Google Sans Text"/>
                        </a:rPr>
                        <a:t>Quizlet</a:t>
                      </a:r>
                      <a:endParaRPr lang="en-US" sz="800">
                        <a:solidFill>
                          <a:srgbClr val="1F1F1F"/>
                        </a:solidFill>
                        <a:effectLst/>
                        <a:latin typeface="Google Sans Text"/>
                      </a:endParaRP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kk-KZ" sz="800" b="1">
                          <a:solidFill>
                            <a:srgbClr val="1F1F1F"/>
                          </a:solidFill>
                          <a:effectLst/>
                          <a:latin typeface="Google Sans Text"/>
                        </a:rPr>
                        <a:t>Ж</a:t>
                      </a:r>
                      <a:r>
                        <a:rPr lang="ru-RU" sz="800" b="1">
                          <a:solidFill>
                            <a:srgbClr val="1F1F1F"/>
                          </a:solidFill>
                          <a:effectLst/>
                          <a:latin typeface="Google Sans Text"/>
                        </a:rPr>
                        <a:t>обамыз</a:t>
                      </a:r>
                      <a:endParaRPr lang="ru-RU" sz="800">
                        <a:solidFill>
                          <a:srgbClr val="1F1F1F"/>
                        </a:solidFill>
                        <a:effectLst/>
                        <a:latin typeface="Google Sans Text"/>
                      </a:endParaRP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4915949"/>
                  </a:ext>
                </a:extLst>
              </a:tr>
              <a:tr h="903004">
                <a:tc>
                  <a:txBody>
                    <a:bodyPr/>
                    <a:lstStyle/>
                    <a:p>
                      <a:pPr algn="ctr" rtl="0">
                        <a:buNone/>
                      </a:pPr>
                      <a:r>
                        <a:rPr lang="ru-RU" sz="800">
                          <a:solidFill>
                            <a:srgbClr val="1F1F1F"/>
                          </a:solidFill>
                          <a:effectLst/>
                          <a:latin typeface="Google Sans Text"/>
                        </a:rPr>
                        <a:t>Сұрақтарды ИИ арқылы генерациялау</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жартылай</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жартылай</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3750321"/>
                  </a:ext>
                </a:extLst>
              </a:tr>
              <a:tr h="903004">
                <a:tc>
                  <a:txBody>
                    <a:bodyPr/>
                    <a:lstStyle/>
                    <a:p>
                      <a:pPr algn="ctr" rtl="0">
                        <a:buNone/>
                      </a:pPr>
                      <a:r>
                        <a:rPr lang="ru-RU" sz="800">
                          <a:solidFill>
                            <a:srgbClr val="1F1F1F"/>
                          </a:solidFill>
                          <a:effectLst/>
                          <a:latin typeface="Google Sans Text"/>
                        </a:rPr>
                        <a:t>Құжаттардан генерациялау (</a:t>
                      </a:r>
                      <a:r>
                        <a:rPr lang="en-US" sz="800">
                          <a:solidFill>
                            <a:srgbClr val="1F1F1F"/>
                          </a:solidFill>
                          <a:effectLst/>
                          <a:latin typeface="Google Sans Text"/>
                        </a:rPr>
                        <a:t>RAG)</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16904675"/>
                  </a:ext>
                </a:extLst>
              </a:tr>
              <a:tr h="755240">
                <a:tc>
                  <a:txBody>
                    <a:bodyPr/>
                    <a:lstStyle/>
                    <a:p>
                      <a:pPr algn="ctr" rtl="0">
                        <a:buNone/>
                      </a:pPr>
                      <a:r>
                        <a:rPr lang="ru-RU" sz="800">
                          <a:solidFill>
                            <a:srgbClr val="1F1F1F"/>
                          </a:solidFill>
                          <a:effectLst/>
                          <a:latin typeface="Google Sans Text"/>
                        </a:rPr>
                        <a:t>Сұрақтардың ашық түрлері</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жартылай</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66441483"/>
                  </a:ext>
                </a:extLst>
              </a:tr>
              <a:tr h="903004">
                <a:tc>
                  <a:txBody>
                    <a:bodyPr/>
                    <a:lstStyle/>
                    <a:p>
                      <a:pPr algn="ctr" rtl="0">
                        <a:buNone/>
                      </a:pPr>
                      <a:r>
                        <a:rPr lang="ru-RU" sz="800">
                          <a:solidFill>
                            <a:srgbClr val="1F1F1F"/>
                          </a:solidFill>
                          <a:effectLst/>
                          <a:latin typeface="Google Sans Text"/>
                        </a:rPr>
                        <a:t>Жауаптарды автоматты тексеру</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70620962"/>
                  </a:ext>
                </a:extLst>
              </a:tr>
              <a:tr h="607475">
                <a:tc>
                  <a:txBody>
                    <a:bodyPr/>
                    <a:lstStyle/>
                    <a:p>
                      <a:pPr algn="ctr" rtl="0">
                        <a:buNone/>
                      </a:pPr>
                      <a:r>
                        <a:rPr lang="ru-RU" sz="800">
                          <a:solidFill>
                            <a:srgbClr val="1F1F1F"/>
                          </a:solidFill>
                          <a:effectLst/>
                          <a:latin typeface="Google Sans Text"/>
                        </a:rPr>
                        <a:t>Үлгерім аналитикасы</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жартылай</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77188036"/>
                  </a:ext>
                </a:extLst>
              </a:tr>
              <a:tr h="607475">
                <a:tc>
                  <a:txBody>
                    <a:bodyPr/>
                    <a:lstStyle/>
                    <a:p>
                      <a:pPr algn="ctr" rtl="0">
                        <a:buNone/>
                      </a:pPr>
                      <a:r>
                        <a:rPr lang="ru-RU" sz="800">
                          <a:solidFill>
                            <a:srgbClr val="1F1F1F"/>
                          </a:solidFill>
                          <a:effectLst/>
                          <a:latin typeface="Google Sans Text"/>
                        </a:rPr>
                        <a:t>Бұлттық орналастыру</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50676"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ru-RU" sz="800">
                          <a:solidFill>
                            <a:srgbClr val="1F1F1F"/>
                          </a:solidFill>
                          <a:effectLst/>
                          <a:latin typeface="Google Sans Text"/>
                        </a:rPr>
                        <a:t>✓</a:t>
                      </a:r>
                    </a:p>
                  </a:txBody>
                  <a:tcPr marL="40540" marR="40540" marT="67567" marB="6756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78038502"/>
                  </a:ext>
                </a:extLst>
              </a:tr>
            </a:tbl>
          </a:graphicData>
        </a:graphic>
      </p:graphicFrame>
    </p:spTree>
    <p:extLst>
      <p:ext uri="{BB962C8B-B14F-4D97-AF65-F5344CB8AC3E}">
        <p14:creationId xmlns:p14="http://schemas.microsoft.com/office/powerpoint/2010/main" val="4156094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F696E53A-6968-4272-8BC2-4567D025D9BB}" type="slidenum">
              <a:rPr lang="ru-RU" smtClean="0"/>
              <a:pPr/>
              <a:t>6</a:t>
            </a:fld>
            <a:endParaRPr lang="ru-RU"/>
          </a:p>
        </p:txBody>
      </p:sp>
      <p:sp>
        <p:nvSpPr>
          <p:cNvPr id="2" name="TextBox 1">
            <a:extLst>
              <a:ext uri="{FF2B5EF4-FFF2-40B4-BE49-F238E27FC236}">
                <a16:creationId xmlns:a16="http://schemas.microsoft.com/office/drawing/2014/main" id="{C01F5559-3574-BFC2-0E66-EE3669013507}"/>
              </a:ext>
            </a:extLst>
          </p:cNvPr>
          <p:cNvSpPr txBox="1"/>
          <p:nvPr/>
        </p:nvSpPr>
        <p:spPr>
          <a:xfrm>
            <a:off x="2384394" y="265919"/>
            <a:ext cx="4375210"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Жүйенің архитектурасы</a:t>
            </a:r>
            <a:endParaRPr lang="ru-RU"/>
          </a:p>
        </p:txBody>
      </p:sp>
      <p:pic>
        <p:nvPicPr>
          <p:cNvPr id="3" name="Рисунок 2">
            <a:extLst>
              <a:ext uri="{FF2B5EF4-FFF2-40B4-BE49-F238E27FC236}">
                <a16:creationId xmlns:a16="http://schemas.microsoft.com/office/drawing/2014/main" id="{50CEEA1D-B3ED-F82F-D114-BC0388F6E150}"/>
              </a:ext>
            </a:extLst>
          </p:cNvPr>
          <p:cNvPicPr>
            <a:picLocks noChangeAspect="1"/>
          </p:cNvPicPr>
          <p:nvPr/>
        </p:nvPicPr>
        <p:blipFill>
          <a:blip r:embed="rId2"/>
          <a:stretch>
            <a:fillRect/>
          </a:stretch>
        </p:blipFill>
        <p:spPr>
          <a:xfrm>
            <a:off x="921874" y="1310100"/>
            <a:ext cx="7300251" cy="4849160"/>
          </a:xfrm>
          <a:prstGeom prst="rect">
            <a:avLst/>
          </a:prstGeom>
        </p:spPr>
      </p:pic>
    </p:spTree>
    <p:extLst>
      <p:ext uri="{BB962C8B-B14F-4D97-AF65-F5344CB8AC3E}">
        <p14:creationId xmlns:p14="http://schemas.microsoft.com/office/powerpoint/2010/main" val="1409010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F696E53A-6968-4272-8BC2-4567D025D9BB}" type="slidenum">
              <a:rPr lang="ru-RU" smtClean="0"/>
              <a:pPr/>
              <a:t>7</a:t>
            </a:fld>
            <a:endParaRPr lang="ru-RU"/>
          </a:p>
        </p:txBody>
      </p:sp>
      <p:sp>
        <p:nvSpPr>
          <p:cNvPr id="2" name="TextBox 1">
            <a:extLst>
              <a:ext uri="{FF2B5EF4-FFF2-40B4-BE49-F238E27FC236}">
                <a16:creationId xmlns:a16="http://schemas.microsoft.com/office/drawing/2014/main" id="{65C80C7E-46E7-2470-2984-5772AC042A95}"/>
              </a:ext>
            </a:extLst>
          </p:cNvPr>
          <p:cNvSpPr txBox="1"/>
          <p:nvPr/>
        </p:nvSpPr>
        <p:spPr>
          <a:xfrm>
            <a:off x="3691701" y="257293"/>
            <a:ext cx="1760598" cy="584775"/>
          </a:xfrm>
          <a:prstGeom prst="rect">
            <a:avLst/>
          </a:prstGeom>
          <a:noFill/>
        </p:spPr>
        <p:txBody>
          <a:bodyPr wrap="square">
            <a:spAutoFit/>
          </a:bodyPr>
          <a:lstStyle/>
          <a:p>
            <a:r>
              <a:rPr lang="en-US" sz="3200">
                <a:solidFill>
                  <a:schemeClr val="bg1"/>
                </a:solidFill>
                <a:latin typeface="Times New Roman" panose="02020603050405020304" pitchFamily="18" charset="0"/>
                <a:cs typeface="Times New Roman" panose="02020603050405020304" pitchFamily="18" charset="0"/>
              </a:rPr>
              <a:t>Use Case</a:t>
            </a:r>
            <a:endParaRPr lang="ru-RU"/>
          </a:p>
        </p:txBody>
      </p:sp>
      <p:pic>
        <p:nvPicPr>
          <p:cNvPr id="3" name="Рисунок 2">
            <a:extLst>
              <a:ext uri="{FF2B5EF4-FFF2-40B4-BE49-F238E27FC236}">
                <a16:creationId xmlns:a16="http://schemas.microsoft.com/office/drawing/2014/main" id="{CFD11E69-B882-BE93-E8B5-4C206CBC659A}"/>
              </a:ext>
            </a:extLst>
          </p:cNvPr>
          <p:cNvPicPr>
            <a:picLocks noChangeAspect="1"/>
          </p:cNvPicPr>
          <p:nvPr/>
        </p:nvPicPr>
        <p:blipFill rotWithShape="1">
          <a:blip r:embed="rId2"/>
          <a:srcRect t="1248"/>
          <a:stretch>
            <a:fillRect/>
          </a:stretch>
        </p:blipFill>
        <p:spPr bwMode="auto">
          <a:xfrm>
            <a:off x="77638" y="1311672"/>
            <a:ext cx="8747186" cy="52890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21709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p:cNvSpPr>
            <a:spLocks noGrp="1"/>
          </p:cNvSpPr>
          <p:nvPr>
            <p:ph type="sldNum" sz="quarter" idx="12"/>
          </p:nvPr>
        </p:nvSpPr>
        <p:spPr/>
        <p:txBody>
          <a:bodyPr/>
          <a:lstStyle/>
          <a:p>
            <a:fld id="{F696E53A-6968-4272-8BC2-4567D025D9BB}" type="slidenum">
              <a:rPr lang="ru-RU" smtClean="0"/>
              <a:pPr/>
              <a:t>8</a:t>
            </a:fld>
            <a:endParaRPr lang="ru-RU"/>
          </a:p>
        </p:txBody>
      </p:sp>
      <p:sp>
        <p:nvSpPr>
          <p:cNvPr id="2" name="TextBox 1">
            <a:extLst>
              <a:ext uri="{FF2B5EF4-FFF2-40B4-BE49-F238E27FC236}">
                <a16:creationId xmlns:a16="http://schemas.microsoft.com/office/drawing/2014/main" id="{96C9D913-3D87-A844-FCD0-EFF7A5A3B129}"/>
              </a:ext>
            </a:extLst>
          </p:cNvPr>
          <p:cNvSpPr txBox="1"/>
          <p:nvPr/>
        </p:nvSpPr>
        <p:spPr>
          <a:xfrm>
            <a:off x="3224729" y="257293"/>
            <a:ext cx="2694542" cy="584775"/>
          </a:xfrm>
          <a:prstGeom prst="rect">
            <a:avLst/>
          </a:prstGeom>
          <a:noFill/>
        </p:spPr>
        <p:txBody>
          <a:bodyPr wrap="square">
            <a:spAutoFit/>
          </a:bodyPr>
          <a:lstStyle/>
          <a:p>
            <a:r>
              <a:rPr lang="en-US" sz="3200">
                <a:solidFill>
                  <a:schemeClr val="bg1"/>
                </a:solidFill>
                <a:latin typeface="Times New Roman" panose="02020603050405020304" pitchFamily="18" charset="0"/>
                <a:cs typeface="Times New Roman" panose="02020603050405020304" pitchFamily="18" charset="0"/>
              </a:rPr>
              <a:t>ER</a:t>
            </a:r>
            <a:r>
              <a:rPr lang="kk-KZ" sz="3200">
                <a:solidFill>
                  <a:schemeClr val="bg1"/>
                </a:solidFill>
                <a:latin typeface="Times New Roman" panose="02020603050405020304" pitchFamily="18" charset="0"/>
                <a:cs typeface="Times New Roman" panose="02020603050405020304" pitchFamily="18" charset="0"/>
              </a:rPr>
              <a:t> диаграмма</a:t>
            </a:r>
            <a:endParaRPr lang="ru-RU"/>
          </a:p>
        </p:txBody>
      </p:sp>
      <p:pic>
        <p:nvPicPr>
          <p:cNvPr id="3" name="Рисунок 2">
            <a:extLst>
              <a:ext uri="{FF2B5EF4-FFF2-40B4-BE49-F238E27FC236}">
                <a16:creationId xmlns:a16="http://schemas.microsoft.com/office/drawing/2014/main" id="{28C4D652-E968-8189-2E78-1B0BF952DB0B}"/>
              </a:ext>
            </a:extLst>
          </p:cNvPr>
          <p:cNvPicPr>
            <a:picLocks noChangeAspect="1"/>
          </p:cNvPicPr>
          <p:nvPr/>
        </p:nvPicPr>
        <p:blipFill>
          <a:blip r:embed="rId2"/>
          <a:stretch>
            <a:fillRect/>
          </a:stretch>
        </p:blipFill>
        <p:spPr>
          <a:xfrm>
            <a:off x="129396" y="2596551"/>
            <a:ext cx="4236690" cy="1786021"/>
          </a:xfrm>
          <a:prstGeom prst="rect">
            <a:avLst/>
          </a:prstGeom>
        </p:spPr>
      </p:pic>
      <p:pic>
        <p:nvPicPr>
          <p:cNvPr id="4" name="Рисунок 3">
            <a:extLst>
              <a:ext uri="{FF2B5EF4-FFF2-40B4-BE49-F238E27FC236}">
                <a16:creationId xmlns:a16="http://schemas.microsoft.com/office/drawing/2014/main" id="{4204B687-097E-7D48-4BFD-5B5ED9709B79}"/>
              </a:ext>
            </a:extLst>
          </p:cNvPr>
          <p:cNvPicPr>
            <a:picLocks noChangeAspect="1"/>
          </p:cNvPicPr>
          <p:nvPr/>
        </p:nvPicPr>
        <p:blipFill>
          <a:blip r:embed="rId3"/>
          <a:stretch>
            <a:fillRect/>
          </a:stretch>
        </p:blipFill>
        <p:spPr>
          <a:xfrm>
            <a:off x="4236690" y="1481831"/>
            <a:ext cx="4869300" cy="4471693"/>
          </a:xfrm>
          <a:prstGeom prst="rect">
            <a:avLst/>
          </a:prstGeom>
        </p:spPr>
      </p:pic>
    </p:spTree>
    <p:extLst>
      <p:ext uri="{BB962C8B-B14F-4D97-AF65-F5344CB8AC3E}">
        <p14:creationId xmlns:p14="http://schemas.microsoft.com/office/powerpoint/2010/main" val="2100617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793FEEE6-00B6-8CF4-E0FC-C758EBCDE0E1}"/>
              </a:ext>
            </a:extLst>
          </p:cNvPr>
          <p:cNvSpPr>
            <a:spLocks noGrp="1"/>
          </p:cNvSpPr>
          <p:nvPr>
            <p:ph type="sldNum" sz="quarter" idx="12"/>
          </p:nvPr>
        </p:nvSpPr>
        <p:spPr/>
        <p:txBody>
          <a:bodyPr/>
          <a:lstStyle/>
          <a:p>
            <a:fld id="{F696E53A-6968-4272-8BC2-4567D025D9BB}" type="slidenum">
              <a:rPr lang="ru-RU" smtClean="0"/>
              <a:pPr/>
              <a:t>9</a:t>
            </a:fld>
            <a:endParaRPr lang="ru-RU"/>
          </a:p>
        </p:txBody>
      </p:sp>
      <p:sp>
        <p:nvSpPr>
          <p:cNvPr id="5" name="TextBox 4">
            <a:extLst>
              <a:ext uri="{FF2B5EF4-FFF2-40B4-BE49-F238E27FC236}">
                <a16:creationId xmlns:a16="http://schemas.microsoft.com/office/drawing/2014/main" id="{6B0C045C-D97F-EBF3-FF7B-89A7D72FC073}"/>
              </a:ext>
            </a:extLst>
          </p:cNvPr>
          <p:cNvSpPr txBox="1"/>
          <p:nvPr/>
        </p:nvSpPr>
        <p:spPr>
          <a:xfrm>
            <a:off x="2647534" y="283173"/>
            <a:ext cx="3848932" cy="584775"/>
          </a:xfrm>
          <a:prstGeom prst="rect">
            <a:avLst/>
          </a:prstGeom>
          <a:noFill/>
        </p:spPr>
        <p:txBody>
          <a:bodyPr wrap="square">
            <a:spAutoFit/>
          </a:bodyPr>
          <a:lstStyle/>
          <a:p>
            <a:r>
              <a:rPr lang="en-US" sz="3200">
                <a:solidFill>
                  <a:schemeClr val="bg1"/>
                </a:solidFill>
                <a:latin typeface="Times New Roman" panose="02020603050405020304" pitchFamily="18" charset="0"/>
                <a:cs typeface="Times New Roman" panose="02020603050405020304" pitchFamily="18" charset="0"/>
              </a:rPr>
              <a:t>RAG </a:t>
            </a:r>
            <a:r>
              <a:rPr lang="kk-KZ" sz="3200">
                <a:solidFill>
                  <a:schemeClr val="bg1"/>
                </a:solidFill>
                <a:latin typeface="Times New Roman" panose="02020603050405020304" pitchFamily="18" charset="0"/>
                <a:cs typeface="Times New Roman" panose="02020603050405020304" pitchFamily="18" charset="0"/>
              </a:rPr>
              <a:t>модуль және </a:t>
            </a:r>
            <a:r>
              <a:rPr lang="en-US" sz="3200">
                <a:solidFill>
                  <a:schemeClr val="bg1"/>
                </a:solidFill>
                <a:latin typeface="Times New Roman" panose="02020603050405020304" pitchFamily="18" charset="0"/>
                <a:cs typeface="Times New Roman" panose="02020603050405020304" pitchFamily="18" charset="0"/>
              </a:rPr>
              <a:t>AI </a:t>
            </a:r>
            <a:endParaRPr lang="ru-RU"/>
          </a:p>
        </p:txBody>
      </p:sp>
      <p:pic>
        <p:nvPicPr>
          <p:cNvPr id="6" name="Рисунок 5">
            <a:extLst>
              <a:ext uri="{FF2B5EF4-FFF2-40B4-BE49-F238E27FC236}">
                <a16:creationId xmlns:a16="http://schemas.microsoft.com/office/drawing/2014/main" id="{9EEF07E1-9E05-B0EA-DBEB-471E9C0FB89E}"/>
              </a:ext>
            </a:extLst>
          </p:cNvPr>
          <p:cNvPicPr>
            <a:picLocks noChangeAspect="1"/>
          </p:cNvPicPr>
          <p:nvPr/>
        </p:nvPicPr>
        <p:blipFill>
          <a:blip r:embed="rId2"/>
          <a:stretch>
            <a:fillRect/>
          </a:stretch>
        </p:blipFill>
        <p:spPr>
          <a:xfrm>
            <a:off x="-1" y="1174064"/>
            <a:ext cx="2686052" cy="5694682"/>
          </a:xfrm>
          <a:prstGeom prst="rect">
            <a:avLst/>
          </a:prstGeom>
        </p:spPr>
      </p:pic>
      <p:graphicFrame>
        <p:nvGraphicFramePr>
          <p:cNvPr id="7" name="Таблица 6">
            <a:extLst>
              <a:ext uri="{FF2B5EF4-FFF2-40B4-BE49-F238E27FC236}">
                <a16:creationId xmlns:a16="http://schemas.microsoft.com/office/drawing/2014/main" id="{8EA321C1-0E75-2AB1-A23F-B50528F4A301}"/>
              </a:ext>
            </a:extLst>
          </p:cNvPr>
          <p:cNvGraphicFramePr>
            <a:graphicFrameLocks noGrp="1"/>
          </p:cNvGraphicFramePr>
          <p:nvPr>
            <p:extLst>
              <p:ext uri="{D42A27DB-BD31-4B8C-83A1-F6EECF244321}">
                <p14:modId xmlns:p14="http://schemas.microsoft.com/office/powerpoint/2010/main" val="4089012996"/>
              </p:ext>
            </p:extLst>
          </p:nvPr>
        </p:nvGraphicFramePr>
        <p:xfrm>
          <a:off x="3579670" y="1296377"/>
          <a:ext cx="5184768" cy="5278450"/>
        </p:xfrm>
        <a:graphic>
          <a:graphicData uri="http://schemas.openxmlformats.org/drawingml/2006/table">
            <a:tbl>
              <a:tblPr/>
              <a:tblGrid>
                <a:gridCol w="2727248">
                  <a:extLst>
                    <a:ext uri="{9D8B030D-6E8A-4147-A177-3AD203B41FA5}">
                      <a16:colId xmlns:a16="http://schemas.microsoft.com/office/drawing/2014/main" val="4106550409"/>
                    </a:ext>
                  </a:extLst>
                </a:gridCol>
                <a:gridCol w="2457520">
                  <a:extLst>
                    <a:ext uri="{9D8B030D-6E8A-4147-A177-3AD203B41FA5}">
                      <a16:colId xmlns:a16="http://schemas.microsoft.com/office/drawing/2014/main" val="3463942492"/>
                    </a:ext>
                  </a:extLst>
                </a:gridCol>
              </a:tblGrid>
              <a:tr h="453070">
                <a:tc>
                  <a:txBody>
                    <a:bodyPr/>
                    <a:lstStyle/>
                    <a:p>
                      <a:pPr rtl="0">
                        <a:buNone/>
                      </a:pPr>
                      <a:r>
                        <a:rPr lang="ru-RU" sz="1600" b="1">
                          <a:solidFill>
                            <a:srgbClr val="1F1F1F"/>
                          </a:solidFill>
                          <a:effectLst/>
                          <a:latin typeface="Google Sans Text"/>
                        </a:rPr>
                        <a:t>Кезең</a:t>
                      </a:r>
                      <a:endParaRPr lang="ru-RU" sz="1600">
                        <a:solidFill>
                          <a:srgbClr val="1F1F1F"/>
                        </a:solidFill>
                        <a:effectLst/>
                        <a:latin typeface="Google Sans Text"/>
                      </a:endParaRPr>
                    </a:p>
                  </a:txBody>
                  <a:tcPr marL="82620" marR="103275"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ru-RU" sz="1600" b="1">
                          <a:solidFill>
                            <a:srgbClr val="1F1F1F"/>
                          </a:solidFill>
                          <a:effectLst/>
                          <a:latin typeface="Google Sans Text"/>
                        </a:rPr>
                        <a:t>Мәні</a:t>
                      </a:r>
                      <a:endParaRPr lang="ru-RU" sz="1600">
                        <a:solidFill>
                          <a:srgbClr val="1F1F1F"/>
                        </a:solidFill>
                        <a:effectLst/>
                        <a:latin typeface="Google Sans Text"/>
                      </a:endParaRPr>
                    </a:p>
                  </a:txBody>
                  <a:tcPr marL="82620" marR="82620"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34526014"/>
                  </a:ext>
                </a:extLst>
              </a:tr>
              <a:tr h="1091365">
                <a:tc>
                  <a:txBody>
                    <a:bodyPr/>
                    <a:lstStyle/>
                    <a:p>
                      <a:pPr rtl="0">
                        <a:buNone/>
                      </a:pPr>
                      <a:r>
                        <a:rPr lang="en-US" sz="1600" b="0">
                          <a:solidFill>
                            <a:srgbClr val="1F1F1F"/>
                          </a:solidFill>
                          <a:effectLst/>
                          <a:latin typeface="Google Sans Text"/>
                        </a:rPr>
                        <a:t>HyDE</a:t>
                      </a:r>
                    </a:p>
                  </a:txBody>
                  <a:tcPr marL="82620" marR="103275"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ru-RU" sz="1600">
                          <a:solidFill>
                            <a:srgbClr val="1F1F1F"/>
                          </a:solidFill>
                          <a:effectLst/>
                          <a:latin typeface="Google Sans Text"/>
                        </a:rPr>
                        <a:t>Егер сұраныс &lt; 150 таңба болса </a:t>
                      </a:r>
                      <a:r>
                        <a:rPr lang="en-US" sz="1600">
                          <a:solidFill>
                            <a:srgbClr val="1F1F1F"/>
                          </a:solidFill>
                          <a:effectLst/>
                          <a:latin typeface="Google Sans Text"/>
                        </a:rPr>
                        <a:t>LLM </a:t>
                      </a:r>
                      <a:r>
                        <a:rPr lang="ru-RU" sz="1600">
                          <a:solidFill>
                            <a:srgbClr val="1F1F1F"/>
                          </a:solidFill>
                          <a:effectLst/>
                          <a:latin typeface="Google Sans Text"/>
                        </a:rPr>
                        <a:t>іздеу сапасын арттыру үшін гипотетикалық абзац дайындайды</a:t>
                      </a:r>
                    </a:p>
                  </a:txBody>
                  <a:tcPr marL="82620" marR="82620"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95661879"/>
                  </a:ext>
                </a:extLst>
              </a:tr>
              <a:tr h="878600">
                <a:tc>
                  <a:txBody>
                    <a:bodyPr/>
                    <a:lstStyle/>
                    <a:p>
                      <a:pPr rtl="0">
                        <a:buNone/>
                      </a:pPr>
                      <a:r>
                        <a:rPr lang="ru-RU" sz="1600" b="0">
                          <a:solidFill>
                            <a:srgbClr val="1F1F1F"/>
                          </a:solidFill>
                          <a:effectLst/>
                          <a:latin typeface="Google Sans Text"/>
                        </a:rPr>
                        <a:t>Гибридті іздеу</a:t>
                      </a:r>
                    </a:p>
                  </a:txBody>
                  <a:tcPr marL="82620" marR="103275"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ru-RU" sz="1600">
                          <a:solidFill>
                            <a:srgbClr val="1F1F1F"/>
                          </a:solidFill>
                          <a:effectLst/>
                          <a:latin typeface="Google Sans Text"/>
                        </a:rPr>
                        <a:t>Семантикалық (</a:t>
                      </a:r>
                      <a:r>
                        <a:rPr lang="en-US" sz="1600">
                          <a:solidFill>
                            <a:srgbClr val="1F1F1F"/>
                          </a:solidFill>
                          <a:effectLst/>
                          <a:latin typeface="Google Sans Text"/>
                        </a:rPr>
                        <a:t>cosine, top-24) + </a:t>
                      </a:r>
                      <a:r>
                        <a:rPr lang="ru-RU" sz="1600">
                          <a:solidFill>
                            <a:srgbClr val="1F1F1F"/>
                          </a:solidFill>
                          <a:effectLst/>
                          <a:latin typeface="Google Sans Text"/>
                        </a:rPr>
                        <a:t>кілт сөздер арқылы (</a:t>
                      </a:r>
                      <a:r>
                        <a:rPr lang="en-US" sz="1600">
                          <a:solidFill>
                            <a:srgbClr val="1F1F1F"/>
                          </a:solidFill>
                          <a:effectLst/>
                          <a:latin typeface="Google Sans Text"/>
                        </a:rPr>
                        <a:t>ILike, top-24) </a:t>
                      </a:r>
                      <a:r>
                        <a:rPr lang="ru-RU" sz="1600">
                          <a:solidFill>
                            <a:srgbClr val="1F1F1F"/>
                          </a:solidFill>
                          <a:effectLst/>
                          <a:latin typeface="Google Sans Text"/>
                        </a:rPr>
                        <a:t>параллельді іздеу</a:t>
                      </a:r>
                    </a:p>
                  </a:txBody>
                  <a:tcPr marL="82620" marR="82620"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4464007"/>
                  </a:ext>
                </a:extLst>
              </a:tr>
              <a:tr h="878600">
                <a:tc>
                  <a:txBody>
                    <a:bodyPr/>
                    <a:lstStyle/>
                    <a:p>
                      <a:pPr rtl="0">
                        <a:buNone/>
                      </a:pPr>
                      <a:r>
                        <a:rPr lang="en-US" sz="1600" b="0">
                          <a:solidFill>
                            <a:srgbClr val="1F1F1F"/>
                          </a:solidFill>
                          <a:effectLst/>
                          <a:latin typeface="Google Sans Text"/>
                        </a:rPr>
                        <a:t>RRF Fusion</a:t>
                      </a:r>
                    </a:p>
                  </a:txBody>
                  <a:tcPr marL="82620" marR="103275"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ru-RU" sz="1600">
                          <a:solidFill>
                            <a:srgbClr val="1F1F1F"/>
                          </a:solidFill>
                          <a:effectLst/>
                          <a:latin typeface="Google Sans Text"/>
                        </a:rPr>
                        <a:t>Нәтижелерді біріктіру: </a:t>
                      </a:r>
                      <a:r>
                        <a:rPr lang="en-US" sz="1600">
                          <a:solidFill>
                            <a:srgbClr val="1F1F1F"/>
                          </a:solidFill>
                          <a:effectLst/>
                          <a:latin typeface="Google Sans Text"/>
                        </a:rPr>
                        <a:t>score = </a:t>
                      </a:r>
                      <a:r>
                        <a:rPr lang="el-GR" sz="1600">
                          <a:solidFill>
                            <a:srgbClr val="1F1F1F"/>
                          </a:solidFill>
                          <a:effectLst/>
                          <a:latin typeface="Google Sans Text"/>
                        </a:rPr>
                        <a:t>Σ 1/(60+</a:t>
                      </a:r>
                      <a:r>
                        <a:rPr lang="en-US" sz="1600">
                          <a:solidFill>
                            <a:srgbClr val="1F1F1F"/>
                          </a:solidFill>
                          <a:effectLst/>
                          <a:latin typeface="Google Sans Text"/>
                        </a:rPr>
                        <a:t>rank), </a:t>
                      </a:r>
                      <a:r>
                        <a:rPr lang="ru-RU" sz="1600">
                          <a:solidFill>
                            <a:srgbClr val="1F1F1F"/>
                          </a:solidFill>
                          <a:effectLst/>
                          <a:latin typeface="Google Sans Text"/>
                        </a:rPr>
                        <a:t>үздік 8 чанкты (</a:t>
                      </a:r>
                      <a:r>
                        <a:rPr lang="en-US" sz="1600">
                          <a:solidFill>
                            <a:srgbClr val="1F1F1F"/>
                          </a:solidFill>
                          <a:effectLst/>
                          <a:latin typeface="Google Sans Text"/>
                        </a:rPr>
                        <a:t>top-8) </a:t>
                      </a:r>
                      <a:r>
                        <a:rPr lang="ru-RU" sz="1600">
                          <a:solidFill>
                            <a:srgbClr val="1F1F1F"/>
                          </a:solidFill>
                          <a:effectLst/>
                          <a:latin typeface="Google Sans Text"/>
                        </a:rPr>
                        <a:t>іріктеу</a:t>
                      </a:r>
                    </a:p>
                  </a:txBody>
                  <a:tcPr marL="82620" marR="82620"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77283037"/>
                  </a:ext>
                </a:extLst>
              </a:tr>
              <a:tr h="878600">
                <a:tc>
                  <a:txBody>
                    <a:bodyPr/>
                    <a:lstStyle/>
                    <a:p>
                      <a:pPr rtl="0">
                        <a:buNone/>
                      </a:pPr>
                      <a:r>
                        <a:rPr lang="ru-RU" sz="1600" b="0">
                          <a:solidFill>
                            <a:srgbClr val="1F1F1F"/>
                          </a:solidFill>
                          <a:effectLst/>
                          <a:latin typeface="Google Sans Text"/>
                        </a:rPr>
                        <a:t>Дедупликация</a:t>
                      </a:r>
                    </a:p>
                  </a:txBody>
                  <a:tcPr marL="82620" marR="103275"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ru-RU" sz="1600">
                          <a:solidFill>
                            <a:srgbClr val="1F1F1F"/>
                          </a:solidFill>
                          <a:effectLst/>
                          <a:latin typeface="Google Sans Text"/>
                        </a:rPr>
                        <a:t>Косинустық ұқсастық ≥ 0.92 болса қайталанатын сұрақтарды жою</a:t>
                      </a:r>
                    </a:p>
                  </a:txBody>
                  <a:tcPr marL="82620" marR="82620" marT="137701" marB="1377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35170712"/>
                  </a:ext>
                </a:extLst>
              </a:tr>
            </a:tbl>
          </a:graphicData>
        </a:graphic>
      </p:graphicFrame>
    </p:spTree>
    <p:extLst>
      <p:ext uri="{BB962C8B-B14F-4D97-AF65-F5344CB8AC3E}">
        <p14:creationId xmlns:p14="http://schemas.microsoft.com/office/powerpoint/2010/main" val="84427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CF2DAD29-CC15-9A08-BA4A-21A2CCC0BDFA}"/>
              </a:ext>
            </a:extLst>
          </p:cNvPr>
          <p:cNvSpPr>
            <a:spLocks noGrp="1"/>
          </p:cNvSpPr>
          <p:nvPr>
            <p:ph type="sldNum" sz="quarter" idx="12"/>
          </p:nvPr>
        </p:nvSpPr>
        <p:spPr>
          <a:xfrm>
            <a:off x="6449020" y="6385025"/>
            <a:ext cx="2057400" cy="365125"/>
          </a:xfrm>
        </p:spPr>
        <p:txBody>
          <a:bodyPr/>
          <a:lstStyle/>
          <a:p>
            <a:fld id="{F696E53A-6968-4272-8BC2-4567D025D9BB}" type="slidenum">
              <a:rPr lang="ru-RU" smtClean="0"/>
              <a:pPr/>
              <a:t>10</a:t>
            </a:fld>
            <a:endParaRPr lang="ru-RU"/>
          </a:p>
        </p:txBody>
      </p:sp>
      <p:sp>
        <p:nvSpPr>
          <p:cNvPr id="5" name="TextBox 4">
            <a:extLst>
              <a:ext uri="{FF2B5EF4-FFF2-40B4-BE49-F238E27FC236}">
                <a16:creationId xmlns:a16="http://schemas.microsoft.com/office/drawing/2014/main" id="{486D478B-65F3-3E06-B005-EE293E95528F}"/>
              </a:ext>
            </a:extLst>
          </p:cNvPr>
          <p:cNvSpPr txBox="1"/>
          <p:nvPr/>
        </p:nvSpPr>
        <p:spPr>
          <a:xfrm>
            <a:off x="2694979" y="291799"/>
            <a:ext cx="3754041"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Технологиялық стэк</a:t>
            </a:r>
            <a:r>
              <a:rPr lang="en-US" sz="3200">
                <a:solidFill>
                  <a:schemeClr val="bg1"/>
                </a:solidFill>
                <a:latin typeface="Times New Roman" panose="02020603050405020304" pitchFamily="18" charset="0"/>
                <a:cs typeface="Times New Roman" panose="02020603050405020304" pitchFamily="18" charset="0"/>
              </a:rPr>
              <a:t> </a:t>
            </a:r>
            <a:endParaRPr lang="ru-RU"/>
          </a:p>
        </p:txBody>
      </p:sp>
      <p:sp>
        <p:nvSpPr>
          <p:cNvPr id="10" name="TextBox 9">
            <a:extLst>
              <a:ext uri="{FF2B5EF4-FFF2-40B4-BE49-F238E27FC236}">
                <a16:creationId xmlns:a16="http://schemas.microsoft.com/office/drawing/2014/main" id="{F3571448-B0D3-5DD7-9FE1-93F9B6DDC579}"/>
              </a:ext>
            </a:extLst>
          </p:cNvPr>
          <p:cNvSpPr txBox="1"/>
          <p:nvPr/>
        </p:nvSpPr>
        <p:spPr>
          <a:xfrm>
            <a:off x="388188" y="5458531"/>
            <a:ext cx="4978222" cy="307777"/>
          </a:xfrm>
          <a:prstGeom prst="rect">
            <a:avLst/>
          </a:prstGeom>
          <a:noFill/>
        </p:spPr>
        <p:txBody>
          <a:bodyPr wrap="none" rtlCol="0">
            <a:spAutoFit/>
          </a:bodyPr>
          <a:lstStyle/>
          <a:p>
            <a:r>
              <a:rPr lang="en-US" sz="1400" b="1">
                <a:latin typeface="Times New Roman" panose="02020603050405020304" pitchFamily="18" charset="0"/>
                <a:cs typeface="Times New Roman" panose="02020603050405020304" pitchFamily="18" charset="0"/>
              </a:rPr>
              <a:t>.NET 9</a:t>
            </a:r>
            <a:r>
              <a:rPr lang="kk-KZ" sz="1400" b="1">
                <a:latin typeface="Times New Roman" panose="02020603050405020304" pitchFamily="18" charset="0"/>
                <a:cs typeface="Times New Roman" panose="02020603050405020304" pitchFamily="18" charset="0"/>
              </a:rPr>
              <a:t> </a:t>
            </a:r>
            <a:r>
              <a:rPr lang="ru-RU" sz="1400">
                <a:latin typeface="Times New Roman" panose="02020603050405020304" pitchFamily="18" charset="0"/>
                <a:cs typeface="Times New Roman" panose="02020603050405020304" pitchFamily="18" charset="0"/>
              </a:rPr>
              <a:t>жоғары өнімділік, қатаң типтеу және дамыған экожүйе</a:t>
            </a:r>
          </a:p>
        </p:txBody>
      </p:sp>
      <p:sp>
        <p:nvSpPr>
          <p:cNvPr id="13" name="TextBox 12">
            <a:extLst>
              <a:ext uri="{FF2B5EF4-FFF2-40B4-BE49-F238E27FC236}">
                <a16:creationId xmlns:a16="http://schemas.microsoft.com/office/drawing/2014/main" id="{AF8F90C5-BB32-954E-8E70-5F6B4BA64254}"/>
              </a:ext>
            </a:extLst>
          </p:cNvPr>
          <p:cNvSpPr txBox="1"/>
          <p:nvPr/>
        </p:nvSpPr>
        <p:spPr>
          <a:xfrm>
            <a:off x="388188" y="5770363"/>
            <a:ext cx="8600537"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pgvector</a:t>
            </a:r>
            <a:r>
              <a:rPr lang="en-US" sz="1400">
                <a:latin typeface="Times New Roman" panose="02020603050405020304" pitchFamily="18" charset="0"/>
                <a:cs typeface="Times New Roman" panose="02020603050405020304" pitchFamily="18" charset="0"/>
              </a:rPr>
              <a:t> </a:t>
            </a:r>
            <a:r>
              <a:rPr lang="ru-RU" sz="1400">
                <a:latin typeface="Times New Roman" panose="02020603050405020304" pitchFamily="18" charset="0"/>
                <a:cs typeface="Times New Roman" panose="02020603050405020304" pitchFamily="18" charset="0"/>
              </a:rPr>
              <a:t>бөлек векторлық ДБ-ны қажет етпей, тікелей </a:t>
            </a:r>
            <a:r>
              <a:rPr lang="en-US" sz="1400">
                <a:latin typeface="Times New Roman" panose="02020603050405020304" pitchFamily="18" charset="0"/>
                <a:cs typeface="Times New Roman" panose="02020603050405020304" pitchFamily="18" charset="0"/>
              </a:rPr>
              <a:t>PostgreSQL </a:t>
            </a:r>
            <a:r>
              <a:rPr lang="ru-RU" sz="1400">
                <a:latin typeface="Times New Roman" panose="02020603050405020304" pitchFamily="18" charset="0"/>
                <a:cs typeface="Times New Roman" panose="02020603050405020304" pitchFamily="18" charset="0"/>
              </a:rPr>
              <a:t>ішінде векторлық іздеу жасау мүмкіндігі</a:t>
            </a:r>
          </a:p>
        </p:txBody>
      </p:sp>
      <p:graphicFrame>
        <p:nvGraphicFramePr>
          <p:cNvPr id="14" name="Таблица 13">
            <a:extLst>
              <a:ext uri="{FF2B5EF4-FFF2-40B4-BE49-F238E27FC236}">
                <a16:creationId xmlns:a16="http://schemas.microsoft.com/office/drawing/2014/main" id="{7C9072FB-F385-97BC-E2C8-B8B406D1CDF3}"/>
              </a:ext>
            </a:extLst>
          </p:cNvPr>
          <p:cNvGraphicFramePr>
            <a:graphicFrameLocks noGrp="1"/>
          </p:cNvGraphicFramePr>
          <p:nvPr>
            <p:extLst>
              <p:ext uri="{D42A27DB-BD31-4B8C-83A1-F6EECF244321}">
                <p14:modId xmlns:p14="http://schemas.microsoft.com/office/powerpoint/2010/main" val="1126632302"/>
              </p:ext>
            </p:extLst>
          </p:nvPr>
        </p:nvGraphicFramePr>
        <p:xfrm>
          <a:off x="556401" y="1271914"/>
          <a:ext cx="8031195" cy="3879732"/>
        </p:xfrm>
        <a:graphic>
          <a:graphicData uri="http://schemas.openxmlformats.org/drawingml/2006/table">
            <a:tbl>
              <a:tblPr/>
              <a:tblGrid>
                <a:gridCol w="2677065">
                  <a:extLst>
                    <a:ext uri="{9D8B030D-6E8A-4147-A177-3AD203B41FA5}">
                      <a16:colId xmlns:a16="http://schemas.microsoft.com/office/drawing/2014/main" val="1877600956"/>
                    </a:ext>
                  </a:extLst>
                </a:gridCol>
                <a:gridCol w="2677065">
                  <a:extLst>
                    <a:ext uri="{9D8B030D-6E8A-4147-A177-3AD203B41FA5}">
                      <a16:colId xmlns:a16="http://schemas.microsoft.com/office/drawing/2014/main" val="401108595"/>
                    </a:ext>
                  </a:extLst>
                </a:gridCol>
                <a:gridCol w="2677065">
                  <a:extLst>
                    <a:ext uri="{9D8B030D-6E8A-4147-A177-3AD203B41FA5}">
                      <a16:colId xmlns:a16="http://schemas.microsoft.com/office/drawing/2014/main" val="3695132074"/>
                    </a:ext>
                  </a:extLst>
                </a:gridCol>
              </a:tblGrid>
              <a:tr h="280731">
                <a:tc>
                  <a:txBody>
                    <a:bodyPr/>
                    <a:lstStyle/>
                    <a:p>
                      <a:pPr>
                        <a:buNone/>
                      </a:pPr>
                      <a:r>
                        <a:rPr lang="ru-RU" sz="1400" b="1">
                          <a:effectLst/>
                          <a:latin typeface="Times New Roman" panose="02020603050405020304" pitchFamily="18" charset="0"/>
                          <a:cs typeface="Times New Roman" panose="02020603050405020304" pitchFamily="18" charset="0"/>
                        </a:rPr>
                        <a:t>Деңгей</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b="1">
                          <a:effectLst/>
                          <a:latin typeface="Times New Roman" panose="02020603050405020304" pitchFamily="18" charset="0"/>
                          <a:cs typeface="Times New Roman" panose="02020603050405020304" pitchFamily="18" charset="0"/>
                        </a:rPr>
                        <a:t>Технология</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b="1">
                          <a:effectLst/>
                          <a:latin typeface="Times New Roman" panose="02020603050405020304" pitchFamily="18" charset="0"/>
                          <a:cs typeface="Times New Roman" panose="02020603050405020304" pitchFamily="18" charset="0"/>
                        </a:rPr>
                        <a:t>Мақсаты</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660252845"/>
                  </a:ext>
                </a:extLst>
              </a:tr>
              <a:tr h="491280">
                <a:tc>
                  <a:txBody>
                    <a:bodyPr/>
                    <a:lstStyle/>
                    <a:p>
                      <a:pPr>
                        <a:buNone/>
                      </a:pPr>
                      <a:r>
                        <a:rPr lang="en-US" sz="1400" b="1">
                          <a:effectLst/>
                          <a:latin typeface="Times New Roman" panose="02020603050405020304" pitchFamily="18" charset="0"/>
                          <a:cs typeface="Times New Roman" panose="02020603050405020304" pitchFamily="18" charset="0"/>
                        </a:rPr>
                        <a:t>Frontend</a:t>
                      </a:r>
                      <a:endParaRPr lang="en-US"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React 19, React Router, TanStack Query</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SPA, </a:t>
                      </a:r>
                      <a:r>
                        <a:rPr lang="ru-RU" sz="1400">
                          <a:effectLst/>
                          <a:latin typeface="Times New Roman" panose="02020603050405020304" pitchFamily="18" charset="0"/>
                          <a:cs typeface="Times New Roman" panose="02020603050405020304" pitchFamily="18" charset="0"/>
                        </a:rPr>
                        <a:t>маршрутизация, сұраныстарды кэштеу</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401188368"/>
                  </a:ext>
                </a:extLst>
              </a:tr>
              <a:tr h="280731">
                <a:tc>
                  <a:txBody>
                    <a:bodyPr/>
                    <a:lstStyle/>
                    <a:p>
                      <a:pPr>
                        <a:buNone/>
                      </a:pPr>
                      <a:r>
                        <a:rPr lang="en-US" sz="1400" b="1">
                          <a:effectLst/>
                          <a:latin typeface="Times New Roman" panose="02020603050405020304" pitchFamily="18" charset="0"/>
                          <a:cs typeface="Times New Roman" panose="02020603050405020304" pitchFamily="18" charset="0"/>
                        </a:rPr>
                        <a:t>Backend</a:t>
                      </a:r>
                      <a:endParaRPr lang="en-US"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nl-NL" sz="1400">
                          <a:effectLst/>
                          <a:latin typeface="Times New Roman" panose="02020603050405020304" pitchFamily="18" charset="0"/>
                          <a:cs typeface="Times New Roman" panose="02020603050405020304" pitchFamily="18" charset="0"/>
                        </a:rPr>
                        <a:t>.NET 9, ASP.NET Core</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REST API, </a:t>
                      </a:r>
                      <a:r>
                        <a:rPr lang="ru-RU" sz="1400">
                          <a:effectLst/>
                          <a:latin typeface="Times New Roman" panose="02020603050405020304" pitchFamily="18" charset="0"/>
                          <a:cs typeface="Times New Roman" panose="02020603050405020304" pitchFamily="18" charset="0"/>
                        </a:rPr>
                        <a:t>бизнес-логика</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992814111"/>
                  </a:ext>
                </a:extLst>
              </a:tr>
              <a:tr h="491280">
                <a:tc>
                  <a:txBody>
                    <a:bodyPr/>
                    <a:lstStyle/>
                    <a:p>
                      <a:pPr>
                        <a:buNone/>
                      </a:pPr>
                      <a:r>
                        <a:rPr lang="ru-RU" sz="1400" b="1">
                          <a:effectLst/>
                          <a:latin typeface="Times New Roman" panose="02020603050405020304" pitchFamily="18" charset="0"/>
                          <a:cs typeface="Times New Roman" panose="02020603050405020304" pitchFamily="18" charset="0"/>
                        </a:rPr>
                        <a:t>Деректер базасы</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PostgreSQL 16 + pgvector</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Деректер + векторлық іздеу</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57289270"/>
                  </a:ext>
                </a:extLst>
              </a:tr>
              <a:tr h="491280">
                <a:tc>
                  <a:txBody>
                    <a:bodyPr/>
                    <a:lstStyle/>
                    <a:p>
                      <a:pPr>
                        <a:buNone/>
                      </a:pPr>
                      <a:r>
                        <a:rPr lang="ru-RU" sz="1400" b="1">
                          <a:effectLst/>
                          <a:latin typeface="Times New Roman" panose="02020603050405020304" pitchFamily="18" charset="0"/>
                          <a:cs typeface="Times New Roman" panose="02020603050405020304" pitchFamily="18" charset="0"/>
                        </a:rPr>
                        <a:t>Кэш / Сессиялар</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Redis 7</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Кэштеу, </a:t>
                      </a:r>
                      <a:r>
                        <a:rPr lang="en-US" sz="1400">
                          <a:effectLst/>
                          <a:latin typeface="Times New Roman" panose="02020603050405020304" pitchFamily="18" charset="0"/>
                          <a:cs typeface="Times New Roman" panose="02020603050405020304" pitchFamily="18" charset="0"/>
                        </a:rPr>
                        <a:t>rate limiting</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19088625"/>
                  </a:ext>
                </a:extLst>
              </a:tr>
              <a:tr h="491280">
                <a:tc>
                  <a:txBody>
                    <a:bodyPr/>
                    <a:lstStyle/>
                    <a:p>
                      <a:pPr>
                        <a:buNone/>
                      </a:pPr>
                      <a:r>
                        <a:rPr lang="en-US" sz="1400" b="1">
                          <a:effectLst/>
                          <a:latin typeface="Times New Roman" panose="02020603050405020304" pitchFamily="18" charset="0"/>
                          <a:cs typeface="Times New Roman" panose="02020603050405020304" pitchFamily="18" charset="0"/>
                        </a:rPr>
                        <a:t>AI</a:t>
                      </a:r>
                      <a:endParaRPr lang="en-US"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Voyage-3-lite</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Генерация, эмбеддингтер</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211457392"/>
                  </a:ext>
                </a:extLst>
              </a:tr>
              <a:tr h="280731">
                <a:tc>
                  <a:txBody>
                    <a:bodyPr/>
                    <a:lstStyle/>
                    <a:p>
                      <a:pPr>
                        <a:buNone/>
                      </a:pPr>
                      <a:r>
                        <a:rPr lang="ru-RU" sz="1400" b="1">
                          <a:effectLst/>
                          <a:latin typeface="Times New Roman" panose="02020603050405020304" pitchFamily="18" charset="0"/>
                          <a:cs typeface="Times New Roman" panose="02020603050405020304" pitchFamily="18" charset="0"/>
                        </a:rPr>
                        <a:t>Фондық тапсырмалар</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Hangfire</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Асинхронды генерация</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536960269"/>
                  </a:ext>
                </a:extLst>
              </a:tr>
              <a:tr h="280731">
                <a:tc>
                  <a:txBody>
                    <a:bodyPr/>
                    <a:lstStyle/>
                    <a:p>
                      <a:pPr>
                        <a:buNone/>
                      </a:pPr>
                      <a:r>
                        <a:rPr lang="en-US" sz="1400" b="1">
                          <a:effectLst/>
                          <a:latin typeface="Times New Roman" panose="02020603050405020304" pitchFamily="18" charset="0"/>
                          <a:cs typeface="Times New Roman" panose="02020603050405020304" pitchFamily="18" charset="0"/>
                        </a:rPr>
                        <a:t>Real-time</a:t>
                      </a:r>
                      <a:endParaRPr lang="en-US"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SignalR (WebSocket)</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Квиздер, хабарламалар</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58737731"/>
                  </a:ext>
                </a:extLst>
              </a:tr>
              <a:tr h="491280">
                <a:tc>
                  <a:txBody>
                    <a:bodyPr/>
                    <a:lstStyle/>
                    <a:p>
                      <a:pPr>
                        <a:buNone/>
                      </a:pPr>
                      <a:r>
                        <a:rPr lang="ru-RU" sz="1400" b="1">
                          <a:effectLst/>
                          <a:latin typeface="Times New Roman" panose="02020603050405020304" pitchFamily="18" charset="0"/>
                          <a:cs typeface="Times New Roman" panose="02020603050405020304" pitchFamily="18" charset="0"/>
                        </a:rPr>
                        <a:t>Контейнерлеу</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Docker, Docker Compose</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ru-RU" sz="1400">
                          <a:effectLst/>
                          <a:latin typeface="Times New Roman" panose="02020603050405020304" pitchFamily="18" charset="0"/>
                          <a:cs typeface="Times New Roman" panose="02020603050405020304" pitchFamily="18" charset="0"/>
                        </a:rPr>
                        <a:t>Орналастыру (</a:t>
                      </a:r>
                      <a:r>
                        <a:rPr lang="en-US" sz="1400">
                          <a:effectLst/>
                          <a:latin typeface="Times New Roman" panose="02020603050405020304" pitchFamily="18" charset="0"/>
                          <a:cs typeface="Times New Roman" panose="02020603050405020304" pitchFamily="18" charset="0"/>
                        </a:rPr>
                        <a:t>deployment)</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780041837"/>
                  </a:ext>
                </a:extLst>
              </a:tr>
              <a:tr h="280731">
                <a:tc>
                  <a:txBody>
                    <a:bodyPr/>
                    <a:lstStyle/>
                    <a:p>
                      <a:pPr>
                        <a:buNone/>
                      </a:pPr>
                      <a:r>
                        <a:rPr lang="ru-RU" sz="1400" b="1">
                          <a:effectLst/>
                          <a:latin typeface="Times New Roman" panose="02020603050405020304" pitchFamily="18" charset="0"/>
                          <a:cs typeface="Times New Roman" panose="02020603050405020304" pitchFamily="18" charset="0"/>
                        </a:rPr>
                        <a:t>Веб-сервер</a:t>
                      </a:r>
                      <a:endParaRPr lang="ru-RU" sz="1400">
                        <a:effectLst/>
                        <a:latin typeface="Times New Roman" panose="02020603050405020304" pitchFamily="18" charset="0"/>
                        <a:cs typeface="Times New Roman" panose="02020603050405020304" pitchFamily="18" charset="0"/>
                      </a:endParaRP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Nginx</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sz="1400">
                          <a:effectLst/>
                          <a:latin typeface="Times New Roman" panose="02020603050405020304" pitchFamily="18" charset="0"/>
                          <a:cs typeface="Times New Roman" panose="02020603050405020304" pitchFamily="18" charset="0"/>
                        </a:rPr>
                        <a:t>Reverse proxy, SPA </a:t>
                      </a:r>
                      <a:r>
                        <a:rPr lang="ru-RU" sz="1400">
                          <a:effectLst/>
                          <a:latin typeface="Times New Roman" panose="02020603050405020304" pitchFamily="18" charset="0"/>
                          <a:cs typeface="Times New Roman" panose="02020603050405020304" pitchFamily="18" charset="0"/>
                        </a:rPr>
                        <a:t>тарату</a:t>
                      </a:r>
                    </a:p>
                  </a:txBody>
                  <a:tcPr marL="70183" marR="70183" marT="35091" marB="3509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738206585"/>
                  </a:ext>
                </a:extLst>
              </a:tr>
            </a:tbl>
          </a:graphicData>
        </a:graphic>
      </p:graphicFrame>
      <p:sp>
        <p:nvSpPr>
          <p:cNvPr id="16" name="TextBox 15">
            <a:extLst>
              <a:ext uri="{FF2B5EF4-FFF2-40B4-BE49-F238E27FC236}">
                <a16:creationId xmlns:a16="http://schemas.microsoft.com/office/drawing/2014/main" id="{29ACD959-0B45-44ED-A199-128730789919}"/>
              </a:ext>
            </a:extLst>
          </p:cNvPr>
          <p:cNvSpPr txBox="1"/>
          <p:nvPr/>
        </p:nvSpPr>
        <p:spPr>
          <a:xfrm>
            <a:off x="388188" y="6077248"/>
            <a:ext cx="8497020" cy="307777"/>
          </a:xfrm>
          <a:prstGeom prst="rect">
            <a:avLst/>
          </a:prstGeom>
          <a:noFill/>
        </p:spPr>
        <p:txBody>
          <a:bodyPr wrap="square">
            <a:spAutoFit/>
          </a:bodyPr>
          <a:lstStyle/>
          <a:p>
            <a:r>
              <a:rPr lang="ru-RU" sz="1400" b="1">
                <a:latin typeface="Times New Roman" panose="02020603050405020304" pitchFamily="18" charset="0"/>
                <a:cs typeface="Times New Roman" panose="02020603050405020304" pitchFamily="18" charset="0"/>
              </a:rPr>
              <a:t>Docker Compose</a:t>
            </a:r>
            <a:r>
              <a:rPr lang="ru-RU" sz="1400">
                <a:latin typeface="Times New Roman" panose="02020603050405020304" pitchFamily="18" charset="0"/>
                <a:cs typeface="Times New Roman" panose="02020603050405020304" pitchFamily="18" charset="0"/>
              </a:rPr>
              <a:t> барлық 5 сервисті бір командамен қайталамалы түрде орналастыру</a:t>
            </a:r>
          </a:p>
        </p:txBody>
      </p:sp>
    </p:spTree>
    <p:extLst>
      <p:ext uri="{BB962C8B-B14F-4D97-AF65-F5344CB8AC3E}">
        <p14:creationId xmlns:p14="http://schemas.microsoft.com/office/powerpoint/2010/main" val="1552809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CFCE105F-A861-2D26-BB79-044E75510C23}"/>
              </a:ext>
            </a:extLst>
          </p:cNvPr>
          <p:cNvSpPr>
            <a:spLocks noGrp="1"/>
          </p:cNvSpPr>
          <p:nvPr>
            <p:ph type="sldNum" sz="quarter" idx="12"/>
          </p:nvPr>
        </p:nvSpPr>
        <p:spPr/>
        <p:txBody>
          <a:bodyPr/>
          <a:lstStyle/>
          <a:p>
            <a:fld id="{F696E53A-6968-4272-8BC2-4567D025D9BB}" type="slidenum">
              <a:rPr lang="ru-RU" smtClean="0"/>
              <a:pPr/>
              <a:t>11</a:t>
            </a:fld>
            <a:endParaRPr lang="ru-RU"/>
          </a:p>
        </p:txBody>
      </p:sp>
      <p:sp>
        <p:nvSpPr>
          <p:cNvPr id="5" name="TextBox 4">
            <a:extLst>
              <a:ext uri="{FF2B5EF4-FFF2-40B4-BE49-F238E27FC236}">
                <a16:creationId xmlns:a16="http://schemas.microsoft.com/office/drawing/2014/main" id="{BA939A5F-229B-63C7-B321-0296405D5664}"/>
              </a:ext>
            </a:extLst>
          </p:cNvPr>
          <p:cNvSpPr txBox="1"/>
          <p:nvPr/>
        </p:nvSpPr>
        <p:spPr>
          <a:xfrm>
            <a:off x="1817629" y="274547"/>
            <a:ext cx="5508742"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Функционалдық мүмкіндіктер</a:t>
            </a:r>
            <a:r>
              <a:rPr lang="en-US" sz="3200">
                <a:solidFill>
                  <a:schemeClr val="bg1"/>
                </a:solidFill>
                <a:latin typeface="Times New Roman" panose="02020603050405020304" pitchFamily="18" charset="0"/>
                <a:cs typeface="Times New Roman" panose="02020603050405020304" pitchFamily="18" charset="0"/>
              </a:rPr>
              <a:t> </a:t>
            </a:r>
            <a:endParaRPr lang="ru-RU"/>
          </a:p>
        </p:txBody>
      </p:sp>
      <p:graphicFrame>
        <p:nvGraphicFramePr>
          <p:cNvPr id="9" name="Таблица 8">
            <a:extLst>
              <a:ext uri="{FF2B5EF4-FFF2-40B4-BE49-F238E27FC236}">
                <a16:creationId xmlns:a16="http://schemas.microsoft.com/office/drawing/2014/main" id="{71600E15-D5D5-5601-9F52-C32106D31983}"/>
              </a:ext>
            </a:extLst>
          </p:cNvPr>
          <p:cNvGraphicFramePr>
            <a:graphicFrameLocks noGrp="1"/>
          </p:cNvGraphicFramePr>
          <p:nvPr>
            <p:extLst>
              <p:ext uri="{D42A27DB-BD31-4B8C-83A1-F6EECF244321}">
                <p14:modId xmlns:p14="http://schemas.microsoft.com/office/powerpoint/2010/main" val="3047457712"/>
              </p:ext>
            </p:extLst>
          </p:nvPr>
        </p:nvGraphicFramePr>
        <p:xfrm>
          <a:off x="668547" y="1863435"/>
          <a:ext cx="7806906" cy="4270939"/>
        </p:xfrm>
        <a:graphic>
          <a:graphicData uri="http://schemas.openxmlformats.org/drawingml/2006/table">
            <a:tbl>
              <a:tblPr/>
              <a:tblGrid>
                <a:gridCol w="4106523">
                  <a:extLst>
                    <a:ext uri="{9D8B030D-6E8A-4147-A177-3AD203B41FA5}">
                      <a16:colId xmlns:a16="http://schemas.microsoft.com/office/drawing/2014/main" val="3214008276"/>
                    </a:ext>
                  </a:extLst>
                </a:gridCol>
                <a:gridCol w="3700383">
                  <a:extLst>
                    <a:ext uri="{9D8B030D-6E8A-4147-A177-3AD203B41FA5}">
                      <a16:colId xmlns:a16="http://schemas.microsoft.com/office/drawing/2014/main" val="4275746273"/>
                    </a:ext>
                  </a:extLst>
                </a:gridCol>
              </a:tblGrid>
              <a:tr h="397314">
                <a:tc>
                  <a:txBody>
                    <a:bodyPr/>
                    <a:lstStyle/>
                    <a:p>
                      <a:pPr algn="l" rtl="0">
                        <a:buNone/>
                      </a:pPr>
                      <a:r>
                        <a:rPr lang="en-US" sz="1400" b="1">
                          <a:solidFill>
                            <a:schemeClr val="tx1"/>
                          </a:solidFill>
                          <a:effectLst/>
                          <a:latin typeface="Times New Roman" panose="02020603050405020304" pitchFamily="18" charset="0"/>
                          <a:cs typeface="Times New Roman" panose="02020603050405020304" pitchFamily="18" charset="0"/>
                        </a:rPr>
                        <a:t>Teacher</a:t>
                      </a:r>
                      <a:endParaRPr lang="ru-RU" sz="1400">
                        <a:solidFill>
                          <a:schemeClr val="tx1"/>
                        </a:solidFill>
                        <a:effectLst/>
                        <a:latin typeface="Times New Roman" panose="02020603050405020304" pitchFamily="18" charset="0"/>
                        <a:cs typeface="Times New Roman" panose="02020603050405020304" pitchFamily="18" charset="0"/>
                      </a:endParaRP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en-US" sz="1400" b="1">
                          <a:solidFill>
                            <a:schemeClr val="tx1"/>
                          </a:solidFill>
                          <a:effectLst/>
                          <a:latin typeface="Times New Roman" panose="02020603050405020304" pitchFamily="18" charset="0"/>
                          <a:cs typeface="Times New Roman" panose="02020603050405020304" pitchFamily="18" charset="0"/>
                        </a:rPr>
                        <a:t>Student</a:t>
                      </a:r>
                      <a:endParaRPr lang="ru-RU" sz="1400">
                        <a:solidFill>
                          <a:schemeClr val="tx1"/>
                        </a:solidFill>
                        <a:effectLst/>
                        <a:latin typeface="Times New Roman" panose="02020603050405020304" pitchFamily="18" charset="0"/>
                        <a:cs typeface="Times New Roman" panose="02020603050405020304" pitchFamily="18" charset="0"/>
                      </a:endParaRP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504276849"/>
                  </a:ext>
                </a:extLst>
              </a:tr>
              <a:tr h="397314">
                <a:tc>
                  <a:txBody>
                    <a:bodyPr/>
                    <a:lstStyle/>
                    <a:p>
                      <a:pPr rtl="0">
                        <a:buNone/>
                      </a:pPr>
                      <a:r>
                        <a:rPr lang="kk-KZ" sz="1400" b="0">
                          <a:solidFill>
                            <a:schemeClr val="tx1"/>
                          </a:solidFill>
                          <a:effectLst/>
                          <a:latin typeface="Times New Roman" panose="02020603050405020304" pitchFamily="18" charset="0"/>
                          <a:cs typeface="Times New Roman" panose="02020603050405020304" pitchFamily="18" charset="0"/>
                        </a:rPr>
                        <a:t>М</a:t>
                      </a:r>
                      <a:r>
                        <a:rPr lang="ru-RU" sz="1400" b="0">
                          <a:solidFill>
                            <a:schemeClr val="tx1"/>
                          </a:solidFill>
                          <a:effectLst/>
                          <a:latin typeface="Times New Roman" panose="02020603050405020304" pitchFamily="18" charset="0"/>
                          <a:cs typeface="Times New Roman" panose="02020603050405020304" pitchFamily="18" charset="0"/>
                        </a:rPr>
                        <a:t>атериал жүктеу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Тесттер мен квиздерден өту</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3030814952"/>
                  </a:ext>
                </a:extLst>
              </a:tr>
              <a:tr h="397314">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ИИ арқылы сұрақтар генерациялау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Нәтижелер мен қателерді көру</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3709063244"/>
                  </a:ext>
                </a:extLst>
              </a:tr>
              <a:tr h="397314">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Тесттерді жасау және баптау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Жеке үлгерім статистикасы</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2558221001"/>
                  </a:ext>
                </a:extLst>
              </a:tr>
              <a:tr h="577393">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Студенттер топтарын басқару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Әлсіз тақырыптар бойынша ұсыныстар</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1136114511"/>
                  </a:ext>
                </a:extLst>
              </a:tr>
              <a:tr h="397314">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Токен арқылы студенттерді шақыру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en-US" sz="1400" b="0">
                          <a:solidFill>
                            <a:schemeClr val="tx1"/>
                          </a:solidFill>
                          <a:effectLst/>
                          <a:latin typeface="Times New Roman" panose="02020603050405020304" pitchFamily="18" charset="0"/>
                          <a:cs typeface="Times New Roman" panose="02020603050405020304" pitchFamily="18" charset="0"/>
                        </a:rPr>
                        <a:t>Real-time </a:t>
                      </a:r>
                      <a:r>
                        <a:rPr lang="ru-RU" sz="1400" b="0">
                          <a:solidFill>
                            <a:schemeClr val="tx1"/>
                          </a:solidFill>
                          <a:effectLst/>
                          <a:latin typeface="Times New Roman" panose="02020603050405020304" pitchFamily="18" charset="0"/>
                          <a:cs typeface="Times New Roman" panose="02020603050405020304" pitchFamily="18" charset="0"/>
                        </a:rPr>
                        <a:t>квиздерге қатысу</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1682142884"/>
                  </a:ext>
                </a:extLst>
              </a:tr>
              <a:tr h="588416">
                <a:tc>
                  <a:txBody>
                    <a:bodyPr/>
                    <a:lstStyle/>
                    <a:p>
                      <a:pPr rtl="0">
                        <a:buNone/>
                      </a:pPr>
                      <a:r>
                        <a:rPr lang="en-US" sz="1400" b="0">
                          <a:solidFill>
                            <a:schemeClr val="tx1"/>
                          </a:solidFill>
                          <a:effectLst/>
                          <a:latin typeface="Times New Roman" panose="02020603050405020304" pitchFamily="18" charset="0"/>
                          <a:cs typeface="Times New Roman" panose="02020603050405020304" pitchFamily="18" charset="0"/>
                        </a:rPr>
                        <a:t>Real-time </a:t>
                      </a:r>
                      <a:r>
                        <a:rPr lang="ru-RU" sz="1400" b="0">
                          <a:solidFill>
                            <a:schemeClr val="tx1"/>
                          </a:solidFill>
                          <a:effectLst/>
                          <a:latin typeface="Times New Roman" panose="02020603050405020304" pitchFamily="18" charset="0"/>
                          <a:cs typeface="Times New Roman" panose="02020603050405020304" pitchFamily="18" charset="0"/>
                        </a:rPr>
                        <a:t>квиздерін өткізу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Тақырыптар бойынша конспектілерді көру</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2230979664"/>
                  </a:ext>
                </a:extLst>
              </a:tr>
              <a:tr h="397314">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Сыныптың үлгерім аналитикасы</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a:solidFill>
                            <a:schemeClr val="tx1"/>
                          </a:solidFill>
                          <a:effectLst/>
                          <a:latin typeface="Times New Roman" panose="02020603050405020304" pitchFamily="18" charset="0"/>
                          <a:cs typeface="Times New Roman" panose="02020603050405020304" pitchFamily="18" charset="0"/>
                        </a:rPr>
                        <a:t>—</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1124402962"/>
                  </a:ext>
                </a:extLst>
              </a:tr>
              <a:tr h="397314">
                <a:tc>
                  <a:txBody>
                    <a:bodyPr/>
                    <a:lstStyle/>
                    <a:p>
                      <a:pPr rtl="0">
                        <a:buNone/>
                      </a:pPr>
                      <a:r>
                        <a:rPr lang="ru-RU" sz="1400" b="0">
                          <a:solidFill>
                            <a:schemeClr val="tx1"/>
                          </a:solidFill>
                          <a:effectLst/>
                          <a:latin typeface="Times New Roman" panose="02020603050405020304" pitchFamily="18" charset="0"/>
                          <a:cs typeface="Times New Roman" panose="02020603050405020304" pitchFamily="18" charset="0"/>
                        </a:rPr>
                        <a:t>Метрикалары бар дашбордты қарау</a:t>
                      </a:r>
                    </a:p>
                  </a:txBody>
                  <a:tcPr marL="69069" marR="86336"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tc>
                  <a:txBody>
                    <a:bodyPr/>
                    <a:lstStyle/>
                    <a:p>
                      <a:pPr rtl="0">
                        <a:buNone/>
                      </a:pPr>
                      <a:r>
                        <a:rPr lang="ru-RU" sz="1400">
                          <a:solidFill>
                            <a:schemeClr val="tx1"/>
                          </a:solidFill>
                          <a:effectLst/>
                          <a:latin typeface="Times New Roman" panose="02020603050405020304" pitchFamily="18" charset="0"/>
                          <a:cs typeface="Times New Roman" panose="02020603050405020304" pitchFamily="18" charset="0"/>
                        </a:rPr>
                        <a:t>—</a:t>
                      </a:r>
                    </a:p>
                  </a:txBody>
                  <a:tcPr marL="69069" marR="69069" marT="115115" marB="11511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gradFill>
                      <a:gsLst>
                        <a:gs pos="100000">
                          <a:schemeClr val="accent1">
                            <a:lumMod val="5000"/>
                            <a:lumOff val="95000"/>
                          </a:schemeClr>
                        </a:gs>
                        <a:gs pos="74000">
                          <a:schemeClr val="accent1">
                            <a:lumMod val="45000"/>
                            <a:lumOff val="55000"/>
                          </a:schemeClr>
                        </a:gs>
                        <a:gs pos="83000">
                          <a:schemeClr val="accent1">
                            <a:lumMod val="45000"/>
                            <a:lumOff val="55000"/>
                          </a:schemeClr>
                        </a:gs>
                      </a:gsLst>
                      <a:lin ang="5400000" scaled="1"/>
                    </a:gradFill>
                  </a:tcPr>
                </a:tc>
                <a:extLst>
                  <a:ext uri="{0D108BD9-81ED-4DB2-BD59-A6C34878D82A}">
                    <a16:rowId xmlns:a16="http://schemas.microsoft.com/office/drawing/2014/main" val="3172508588"/>
                  </a:ext>
                </a:extLst>
              </a:tr>
            </a:tbl>
          </a:graphicData>
        </a:graphic>
      </p:graphicFrame>
    </p:spTree>
    <p:extLst>
      <p:ext uri="{BB962C8B-B14F-4D97-AF65-F5344CB8AC3E}">
        <p14:creationId xmlns:p14="http://schemas.microsoft.com/office/powerpoint/2010/main" val="3323346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скругленные углы 6">
            <a:extLst>
              <a:ext uri="{FF2B5EF4-FFF2-40B4-BE49-F238E27FC236}">
                <a16:creationId xmlns:a16="http://schemas.microsoft.com/office/drawing/2014/main" id="{3AD924C0-AA61-63C7-D372-C6DE66B1EFCF}"/>
              </a:ext>
            </a:extLst>
          </p:cNvPr>
          <p:cNvSpPr/>
          <p:nvPr/>
        </p:nvSpPr>
        <p:spPr>
          <a:xfrm>
            <a:off x="2251494" y="5602059"/>
            <a:ext cx="4934310" cy="43131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ru-RU"/>
          </a:p>
        </p:txBody>
      </p:sp>
      <p:sp>
        <p:nvSpPr>
          <p:cNvPr id="4" name="Номер слайда 3">
            <a:extLst>
              <a:ext uri="{FF2B5EF4-FFF2-40B4-BE49-F238E27FC236}">
                <a16:creationId xmlns:a16="http://schemas.microsoft.com/office/drawing/2014/main" id="{0A764918-BE28-ADD8-7F21-E4A703E6348B}"/>
              </a:ext>
            </a:extLst>
          </p:cNvPr>
          <p:cNvSpPr>
            <a:spLocks noGrp="1"/>
          </p:cNvSpPr>
          <p:nvPr>
            <p:ph type="sldNum" sz="quarter" idx="12"/>
          </p:nvPr>
        </p:nvSpPr>
        <p:spPr/>
        <p:txBody>
          <a:bodyPr/>
          <a:lstStyle/>
          <a:p>
            <a:fld id="{F696E53A-6968-4272-8BC2-4567D025D9BB}" type="slidenum">
              <a:rPr lang="ru-RU" smtClean="0"/>
              <a:pPr/>
              <a:t>12</a:t>
            </a:fld>
            <a:endParaRPr lang="ru-RU"/>
          </a:p>
        </p:txBody>
      </p:sp>
      <p:sp>
        <p:nvSpPr>
          <p:cNvPr id="6" name="TextBox 5">
            <a:extLst>
              <a:ext uri="{FF2B5EF4-FFF2-40B4-BE49-F238E27FC236}">
                <a16:creationId xmlns:a16="http://schemas.microsoft.com/office/drawing/2014/main" id="{EBFC5C78-1F96-E326-11EF-2B549A616B4B}"/>
              </a:ext>
            </a:extLst>
          </p:cNvPr>
          <p:cNvSpPr txBox="1"/>
          <p:nvPr/>
        </p:nvSpPr>
        <p:spPr>
          <a:xfrm>
            <a:off x="3194814" y="283174"/>
            <a:ext cx="2754371"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Демонстрация</a:t>
            </a:r>
            <a:r>
              <a:rPr lang="en-US" sz="3200">
                <a:solidFill>
                  <a:schemeClr val="bg1"/>
                </a:solidFill>
                <a:latin typeface="Times New Roman" panose="02020603050405020304" pitchFamily="18" charset="0"/>
                <a:cs typeface="Times New Roman" panose="02020603050405020304" pitchFamily="18" charset="0"/>
              </a:rPr>
              <a:t> </a:t>
            </a:r>
            <a:endParaRPr lang="ru-RU"/>
          </a:p>
        </p:txBody>
      </p:sp>
      <p:pic>
        <p:nvPicPr>
          <p:cNvPr id="3" name="Рисунок 2">
            <a:extLst>
              <a:ext uri="{FF2B5EF4-FFF2-40B4-BE49-F238E27FC236}">
                <a16:creationId xmlns:a16="http://schemas.microsoft.com/office/drawing/2014/main" id="{559E2126-BF92-4E39-9DC4-F32306248F82}"/>
              </a:ext>
            </a:extLst>
          </p:cNvPr>
          <p:cNvPicPr>
            <a:picLocks noChangeAspect="1"/>
          </p:cNvPicPr>
          <p:nvPr/>
        </p:nvPicPr>
        <p:blipFill>
          <a:blip r:embed="rId2"/>
          <a:srcRect t="1294" b="1"/>
          <a:stretch>
            <a:fillRect/>
          </a:stretch>
        </p:blipFill>
        <p:spPr>
          <a:xfrm>
            <a:off x="0" y="1224949"/>
            <a:ext cx="9144000" cy="3942195"/>
          </a:xfrm>
          <a:prstGeom prst="rect">
            <a:avLst/>
          </a:prstGeom>
        </p:spPr>
      </p:pic>
      <p:sp>
        <p:nvSpPr>
          <p:cNvPr id="5" name="TextBox 4">
            <a:extLst>
              <a:ext uri="{FF2B5EF4-FFF2-40B4-BE49-F238E27FC236}">
                <a16:creationId xmlns:a16="http://schemas.microsoft.com/office/drawing/2014/main" id="{66B4AC33-1CDF-8412-D678-34874AD349D8}"/>
              </a:ext>
            </a:extLst>
          </p:cNvPr>
          <p:cNvSpPr txBox="1"/>
          <p:nvPr/>
        </p:nvSpPr>
        <p:spPr>
          <a:xfrm>
            <a:off x="2518527" y="5633051"/>
            <a:ext cx="4400244" cy="369332"/>
          </a:xfrm>
          <a:prstGeom prst="rect">
            <a:avLst/>
          </a:prstGeom>
          <a:noFill/>
        </p:spPr>
        <p:txBody>
          <a:bodyPr wrap="none" rtlCol="0">
            <a:spAutoFit/>
          </a:bodyPr>
          <a:lstStyle/>
          <a:p>
            <a:r>
              <a:rPr lang="ru-RU">
                <a:solidFill>
                  <a:schemeClr val="bg1"/>
                </a:solidFill>
              </a:rPr>
              <a:t>Тақырып бойынша </a:t>
            </a:r>
            <a:r>
              <a:rPr lang="en-US">
                <a:solidFill>
                  <a:schemeClr val="bg1"/>
                </a:solidFill>
              </a:rPr>
              <a:t>AI</a:t>
            </a:r>
            <a:r>
              <a:rPr lang="ru-RU">
                <a:solidFill>
                  <a:schemeClr val="bg1"/>
                </a:solidFill>
              </a:rPr>
              <a:t> конспект дайындауы</a:t>
            </a:r>
          </a:p>
        </p:txBody>
      </p:sp>
    </p:spTree>
    <p:extLst>
      <p:ext uri="{BB962C8B-B14F-4D97-AF65-F5344CB8AC3E}">
        <p14:creationId xmlns:p14="http://schemas.microsoft.com/office/powerpoint/2010/main" val="432656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C6607707-C9DB-0D27-4669-C134C097740E}"/>
              </a:ext>
            </a:extLst>
          </p:cNvPr>
          <p:cNvSpPr>
            <a:spLocks noGrp="1"/>
          </p:cNvSpPr>
          <p:nvPr>
            <p:ph type="sldNum" sz="quarter" idx="12"/>
          </p:nvPr>
        </p:nvSpPr>
        <p:spPr/>
        <p:txBody>
          <a:bodyPr/>
          <a:lstStyle/>
          <a:p>
            <a:fld id="{F696E53A-6968-4272-8BC2-4567D025D9BB}" type="slidenum">
              <a:rPr lang="ru-RU" smtClean="0"/>
              <a:pPr/>
              <a:t>13</a:t>
            </a:fld>
            <a:endParaRPr lang="ru-RU"/>
          </a:p>
        </p:txBody>
      </p:sp>
      <p:sp>
        <p:nvSpPr>
          <p:cNvPr id="6" name="TextBox 5">
            <a:extLst>
              <a:ext uri="{FF2B5EF4-FFF2-40B4-BE49-F238E27FC236}">
                <a16:creationId xmlns:a16="http://schemas.microsoft.com/office/drawing/2014/main" id="{D162A289-1A8C-4263-D2FF-92A7521F2D30}"/>
              </a:ext>
            </a:extLst>
          </p:cNvPr>
          <p:cNvSpPr txBox="1"/>
          <p:nvPr/>
        </p:nvSpPr>
        <p:spPr>
          <a:xfrm>
            <a:off x="3194814" y="257296"/>
            <a:ext cx="2754371"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Демонстрация</a:t>
            </a:r>
            <a:r>
              <a:rPr lang="en-US" sz="3200">
                <a:solidFill>
                  <a:schemeClr val="bg1"/>
                </a:solidFill>
                <a:latin typeface="Times New Roman" panose="02020603050405020304" pitchFamily="18" charset="0"/>
                <a:cs typeface="Times New Roman" panose="02020603050405020304" pitchFamily="18" charset="0"/>
              </a:rPr>
              <a:t> </a:t>
            </a:r>
            <a:endParaRPr lang="ru-RU"/>
          </a:p>
        </p:txBody>
      </p:sp>
      <p:pic>
        <p:nvPicPr>
          <p:cNvPr id="3" name="Рисунок 2">
            <a:extLst>
              <a:ext uri="{FF2B5EF4-FFF2-40B4-BE49-F238E27FC236}">
                <a16:creationId xmlns:a16="http://schemas.microsoft.com/office/drawing/2014/main" id="{589850E0-D60D-CF37-3D61-B7B8DB489956}"/>
              </a:ext>
            </a:extLst>
          </p:cNvPr>
          <p:cNvPicPr>
            <a:picLocks noChangeAspect="1"/>
          </p:cNvPicPr>
          <p:nvPr/>
        </p:nvPicPr>
        <p:blipFill>
          <a:blip r:embed="rId2"/>
          <a:stretch>
            <a:fillRect/>
          </a:stretch>
        </p:blipFill>
        <p:spPr>
          <a:xfrm>
            <a:off x="-1" y="1348098"/>
            <a:ext cx="9144000" cy="3920263"/>
          </a:xfrm>
          <a:prstGeom prst="rect">
            <a:avLst/>
          </a:prstGeom>
        </p:spPr>
      </p:pic>
      <p:sp>
        <p:nvSpPr>
          <p:cNvPr id="7" name="Прямоугольник: скругленные углы 6">
            <a:extLst>
              <a:ext uri="{FF2B5EF4-FFF2-40B4-BE49-F238E27FC236}">
                <a16:creationId xmlns:a16="http://schemas.microsoft.com/office/drawing/2014/main" id="{B0978E38-A394-28F3-696F-D594FDCA076E}"/>
              </a:ext>
            </a:extLst>
          </p:cNvPr>
          <p:cNvSpPr/>
          <p:nvPr/>
        </p:nvSpPr>
        <p:spPr>
          <a:xfrm>
            <a:off x="2070338" y="5779907"/>
            <a:ext cx="4934310" cy="43131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19392319-97F3-DE32-EE7D-AEAE8CF66247}"/>
              </a:ext>
            </a:extLst>
          </p:cNvPr>
          <p:cNvSpPr txBox="1"/>
          <p:nvPr/>
        </p:nvSpPr>
        <p:spPr>
          <a:xfrm>
            <a:off x="2872742" y="5797369"/>
            <a:ext cx="3329501" cy="369332"/>
          </a:xfrm>
          <a:prstGeom prst="rect">
            <a:avLst/>
          </a:prstGeom>
          <a:noFill/>
        </p:spPr>
        <p:txBody>
          <a:bodyPr wrap="none" rtlCol="0">
            <a:spAutoFit/>
          </a:bodyPr>
          <a:lstStyle/>
          <a:p>
            <a:r>
              <a:rPr lang="kk-KZ">
                <a:solidFill>
                  <a:schemeClr val="bg1"/>
                </a:solidFill>
              </a:rPr>
              <a:t>Тақырып бойынша тест өту беті</a:t>
            </a:r>
            <a:endParaRPr lang="ru-RU">
              <a:solidFill>
                <a:schemeClr val="bg1"/>
              </a:solidFill>
            </a:endParaRPr>
          </a:p>
        </p:txBody>
      </p:sp>
    </p:spTree>
    <p:extLst>
      <p:ext uri="{BB962C8B-B14F-4D97-AF65-F5344CB8AC3E}">
        <p14:creationId xmlns:p14="http://schemas.microsoft.com/office/powerpoint/2010/main" val="3071147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4F18B7E0-B456-07ED-F801-131B581DC604}"/>
              </a:ext>
            </a:extLst>
          </p:cNvPr>
          <p:cNvSpPr>
            <a:spLocks noGrp="1"/>
          </p:cNvSpPr>
          <p:nvPr>
            <p:ph type="sldNum" sz="quarter" idx="12"/>
          </p:nvPr>
        </p:nvSpPr>
        <p:spPr/>
        <p:txBody>
          <a:bodyPr/>
          <a:lstStyle/>
          <a:p>
            <a:fld id="{F696E53A-6968-4272-8BC2-4567D025D9BB}" type="slidenum">
              <a:rPr lang="ru-RU" smtClean="0"/>
              <a:pPr/>
              <a:t>14</a:t>
            </a:fld>
            <a:endParaRPr lang="ru-RU"/>
          </a:p>
        </p:txBody>
      </p:sp>
      <p:sp>
        <p:nvSpPr>
          <p:cNvPr id="5" name="TextBox 4">
            <a:extLst>
              <a:ext uri="{FF2B5EF4-FFF2-40B4-BE49-F238E27FC236}">
                <a16:creationId xmlns:a16="http://schemas.microsoft.com/office/drawing/2014/main" id="{9C914B8D-E0D5-9AFF-A3FF-9228D3CBE4BE}"/>
              </a:ext>
            </a:extLst>
          </p:cNvPr>
          <p:cNvSpPr txBox="1"/>
          <p:nvPr/>
        </p:nvSpPr>
        <p:spPr>
          <a:xfrm>
            <a:off x="3413267" y="274548"/>
            <a:ext cx="2317465" cy="584775"/>
          </a:xfrm>
          <a:prstGeom prst="rect">
            <a:avLst/>
          </a:prstGeom>
          <a:noFill/>
        </p:spPr>
        <p:txBody>
          <a:bodyPr wrap="square">
            <a:spAutoFit/>
          </a:bodyPr>
          <a:lstStyle/>
          <a:p>
            <a:r>
              <a:rPr lang="kk-KZ" sz="3200">
                <a:solidFill>
                  <a:schemeClr val="bg1"/>
                </a:solidFill>
                <a:latin typeface="Times New Roman" panose="02020603050405020304" pitchFamily="18" charset="0"/>
                <a:cs typeface="Times New Roman" panose="02020603050405020304" pitchFamily="18" charset="0"/>
              </a:rPr>
              <a:t>Қорытынды</a:t>
            </a:r>
            <a:r>
              <a:rPr lang="en-US" sz="3200">
                <a:solidFill>
                  <a:schemeClr val="bg1"/>
                </a:solidFill>
                <a:latin typeface="Times New Roman" panose="02020603050405020304" pitchFamily="18" charset="0"/>
                <a:cs typeface="Times New Roman" panose="02020603050405020304" pitchFamily="18" charset="0"/>
              </a:rPr>
              <a:t> </a:t>
            </a:r>
            <a:endParaRPr lang="ru-RU"/>
          </a:p>
        </p:txBody>
      </p:sp>
      <p:sp>
        <p:nvSpPr>
          <p:cNvPr id="6" name="TextBox 5">
            <a:extLst>
              <a:ext uri="{FF2B5EF4-FFF2-40B4-BE49-F238E27FC236}">
                <a16:creationId xmlns:a16="http://schemas.microsoft.com/office/drawing/2014/main" id="{9F8E11D6-CC2A-BBBB-592D-27BE382F55DF}"/>
              </a:ext>
            </a:extLst>
          </p:cNvPr>
          <p:cNvSpPr txBox="1"/>
          <p:nvPr/>
        </p:nvSpPr>
        <p:spPr>
          <a:xfrm>
            <a:off x="203799" y="1259456"/>
            <a:ext cx="5902770" cy="369332"/>
          </a:xfrm>
          <a:prstGeom prst="rect">
            <a:avLst/>
          </a:prstGeom>
          <a:noFill/>
        </p:spPr>
        <p:txBody>
          <a:bodyPr wrap="none" rtlCol="0">
            <a:spAutoFit/>
          </a:bodyPr>
          <a:lstStyle/>
          <a:p>
            <a:r>
              <a:rPr lang="kk-KZ" b="1">
                <a:latin typeface="Times New Roman" panose="02020603050405020304" pitchFamily="18" charset="0"/>
                <a:cs typeface="Times New Roman" panose="02020603050405020304" pitchFamily="18" charset="0"/>
              </a:rPr>
              <a:t>Жобаны жасау аясында келесідей нәтижелерге жеттік</a:t>
            </a:r>
            <a:r>
              <a:rPr lang="en-US" b="1">
                <a:latin typeface="Times New Roman" panose="02020603050405020304" pitchFamily="18" charset="0"/>
                <a:cs typeface="Times New Roman" panose="02020603050405020304" pitchFamily="18" charset="0"/>
              </a:rPr>
              <a:t>:</a:t>
            </a:r>
            <a:endParaRPr lang="ru-RU"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730C4E7-B27F-FF31-F921-EEEACAE2ED1A}"/>
              </a:ext>
            </a:extLst>
          </p:cNvPr>
          <p:cNvSpPr txBox="1"/>
          <p:nvPr/>
        </p:nvSpPr>
        <p:spPr>
          <a:xfrm>
            <a:off x="201942" y="1593730"/>
            <a:ext cx="6256008"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Қолданыстағы шешімдерді талдау және әзірлемені негіздеу</a:t>
            </a:r>
          </a:p>
        </p:txBody>
      </p:sp>
      <p:sp>
        <p:nvSpPr>
          <p:cNvPr id="12" name="TextBox 11">
            <a:extLst>
              <a:ext uri="{FF2B5EF4-FFF2-40B4-BE49-F238E27FC236}">
                <a16:creationId xmlns:a16="http://schemas.microsoft.com/office/drawing/2014/main" id="{25D1C01B-9C0A-0660-A14E-B7BAAE1F9B4F}"/>
              </a:ext>
            </a:extLst>
          </p:cNvPr>
          <p:cNvSpPr txBox="1"/>
          <p:nvPr/>
        </p:nvSpPr>
        <p:spPr>
          <a:xfrm>
            <a:off x="210568" y="1928004"/>
            <a:ext cx="4667240"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Бұлттық сервистің архитектурасын жобалау</a:t>
            </a:r>
          </a:p>
        </p:txBody>
      </p:sp>
      <p:sp>
        <p:nvSpPr>
          <p:cNvPr id="13" name="TextBox 12">
            <a:extLst>
              <a:ext uri="{FF2B5EF4-FFF2-40B4-BE49-F238E27FC236}">
                <a16:creationId xmlns:a16="http://schemas.microsoft.com/office/drawing/2014/main" id="{D5ECB618-81ED-5615-EB74-2D3D9C9BB182}"/>
              </a:ext>
            </a:extLst>
          </p:cNvPr>
          <p:cNvSpPr txBox="1"/>
          <p:nvPr/>
        </p:nvSpPr>
        <p:spPr>
          <a:xfrm>
            <a:off x="210568" y="2262278"/>
            <a:ext cx="6953891"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Гибридті іздеу және </a:t>
            </a:r>
            <a:r>
              <a:rPr lang="en-US">
                <a:latin typeface="Times New Roman" panose="02020603050405020304" pitchFamily="18" charset="0"/>
                <a:cs typeface="Times New Roman" panose="02020603050405020304" pitchFamily="18" charset="0"/>
              </a:rPr>
              <a:t>HyDE </a:t>
            </a:r>
            <a:r>
              <a:rPr lang="ru-RU">
                <a:latin typeface="Times New Roman" panose="02020603050405020304" pitchFamily="18" charset="0"/>
                <a:cs typeface="Times New Roman" panose="02020603050405020304" pitchFamily="18" charset="0"/>
              </a:rPr>
              <a:t>негізіндегі </a:t>
            </a:r>
            <a:r>
              <a:rPr lang="en-US">
                <a:latin typeface="Times New Roman" panose="02020603050405020304" pitchFamily="18" charset="0"/>
                <a:cs typeface="Times New Roman" panose="02020603050405020304" pitchFamily="18" charset="0"/>
              </a:rPr>
              <a:t>RAG</a:t>
            </a:r>
            <a:r>
              <a:rPr lang="kk-KZ">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пайплайнын іске асыру</a:t>
            </a:r>
          </a:p>
        </p:txBody>
      </p:sp>
      <p:sp>
        <p:nvSpPr>
          <p:cNvPr id="14" name="TextBox 13">
            <a:extLst>
              <a:ext uri="{FF2B5EF4-FFF2-40B4-BE49-F238E27FC236}">
                <a16:creationId xmlns:a16="http://schemas.microsoft.com/office/drawing/2014/main" id="{CF5D70BC-8D53-0BB9-3AD9-C8113846BFBA}"/>
              </a:ext>
            </a:extLst>
          </p:cNvPr>
          <p:cNvSpPr txBox="1"/>
          <p:nvPr/>
        </p:nvSpPr>
        <p:spPr>
          <a:xfrm>
            <a:off x="210568" y="2594395"/>
            <a:ext cx="5017912"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Voyage-3-lite </a:t>
            </a:r>
            <a:r>
              <a:rPr lang="ru-RU">
                <a:latin typeface="Times New Roman" panose="02020603050405020304" pitchFamily="18" charset="0"/>
                <a:cs typeface="Times New Roman" panose="02020603050405020304" pitchFamily="18" charset="0"/>
              </a:rPr>
              <a:t>тілдік модельдерін интеграциялау</a:t>
            </a:r>
          </a:p>
        </p:txBody>
      </p:sp>
      <p:sp>
        <p:nvSpPr>
          <p:cNvPr id="15" name="TextBox 14">
            <a:extLst>
              <a:ext uri="{FF2B5EF4-FFF2-40B4-BE49-F238E27FC236}">
                <a16:creationId xmlns:a16="http://schemas.microsoft.com/office/drawing/2014/main" id="{32CBAF64-E1B3-BFDC-FC91-A1DD2AC1073D}"/>
              </a:ext>
            </a:extLst>
          </p:cNvPr>
          <p:cNvSpPr txBox="1"/>
          <p:nvPr/>
        </p:nvSpPr>
        <p:spPr>
          <a:xfrm>
            <a:off x="201942" y="2926512"/>
            <a:ext cx="5616346"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Екі рөлге арналған пайдаланушы интерфейсін әзірлеу</a:t>
            </a:r>
          </a:p>
        </p:txBody>
      </p:sp>
      <p:sp>
        <p:nvSpPr>
          <p:cNvPr id="16" name="TextBox 15">
            <a:extLst>
              <a:ext uri="{FF2B5EF4-FFF2-40B4-BE49-F238E27FC236}">
                <a16:creationId xmlns:a16="http://schemas.microsoft.com/office/drawing/2014/main" id="{E27DD80B-BFD8-D958-25FB-69594F14A562}"/>
              </a:ext>
            </a:extLst>
          </p:cNvPr>
          <p:cNvSpPr txBox="1"/>
          <p:nvPr/>
        </p:nvSpPr>
        <p:spPr>
          <a:xfrm>
            <a:off x="210568" y="3295844"/>
            <a:ext cx="5343707"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WebSocket </a:t>
            </a:r>
            <a:r>
              <a:rPr lang="ru-RU">
                <a:latin typeface="Times New Roman" panose="02020603050405020304" pitchFamily="18" charset="0"/>
                <a:cs typeface="Times New Roman" panose="02020603050405020304" pitchFamily="18" charset="0"/>
              </a:rPr>
              <a:t>негізінде </a:t>
            </a:r>
            <a:r>
              <a:rPr lang="en-US">
                <a:latin typeface="Times New Roman" panose="02020603050405020304" pitchFamily="18" charset="0"/>
                <a:cs typeface="Times New Roman" panose="02020603050405020304" pitchFamily="18" charset="0"/>
              </a:rPr>
              <a:t>real-time </a:t>
            </a:r>
            <a:r>
              <a:rPr lang="ru-RU">
                <a:latin typeface="Times New Roman" panose="02020603050405020304" pitchFamily="18" charset="0"/>
                <a:cs typeface="Times New Roman" panose="02020603050405020304" pitchFamily="18" charset="0"/>
              </a:rPr>
              <a:t>квиздерді іске асыру</a:t>
            </a:r>
          </a:p>
        </p:txBody>
      </p:sp>
      <p:sp>
        <p:nvSpPr>
          <p:cNvPr id="17" name="TextBox 16">
            <a:extLst>
              <a:ext uri="{FF2B5EF4-FFF2-40B4-BE49-F238E27FC236}">
                <a16:creationId xmlns:a16="http://schemas.microsoft.com/office/drawing/2014/main" id="{C3A894FF-A468-6993-627E-C954E5DEB3C4}"/>
              </a:ext>
            </a:extLst>
          </p:cNvPr>
          <p:cNvSpPr txBox="1"/>
          <p:nvPr/>
        </p:nvSpPr>
        <p:spPr>
          <a:xfrm>
            <a:off x="201942" y="3627961"/>
            <a:ext cx="4863576" cy="369332"/>
          </a:xfrm>
          <a:prstGeom prst="rect">
            <a:avLst/>
          </a:prstGeom>
          <a:noFill/>
        </p:spPr>
        <p:txBody>
          <a:bodyPr wrap="non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Контейнерлеу және орналастыруға дайындық</a:t>
            </a:r>
          </a:p>
        </p:txBody>
      </p:sp>
      <p:sp>
        <p:nvSpPr>
          <p:cNvPr id="21" name="TextBox 20">
            <a:extLst>
              <a:ext uri="{FF2B5EF4-FFF2-40B4-BE49-F238E27FC236}">
                <a16:creationId xmlns:a16="http://schemas.microsoft.com/office/drawing/2014/main" id="{B1B2FEBC-BB1B-98BD-ACD4-4D7C665B2EC2}"/>
              </a:ext>
            </a:extLst>
          </p:cNvPr>
          <p:cNvSpPr txBox="1"/>
          <p:nvPr/>
        </p:nvSpPr>
        <p:spPr>
          <a:xfrm>
            <a:off x="210568" y="4350174"/>
            <a:ext cx="2034147" cy="369332"/>
          </a:xfrm>
          <a:prstGeom prst="rect">
            <a:avLst/>
          </a:prstGeom>
          <a:noFill/>
        </p:spPr>
        <p:txBody>
          <a:bodyPr wrap="none" rtlCol="0">
            <a:spAutoFit/>
          </a:bodyPr>
          <a:lstStyle/>
          <a:p>
            <a:pPr>
              <a:buNone/>
            </a:pPr>
            <a:r>
              <a:rPr lang="ru-RU" b="1">
                <a:latin typeface="Times New Roman" panose="02020603050405020304" pitchFamily="18" charset="0"/>
                <a:cs typeface="Times New Roman" panose="02020603050405020304" pitchFamily="18" charset="0"/>
              </a:rPr>
              <a:t>Даму бағыттары:</a:t>
            </a:r>
          </a:p>
        </p:txBody>
      </p:sp>
      <p:sp>
        <p:nvSpPr>
          <p:cNvPr id="23" name="TextBox 22">
            <a:extLst>
              <a:ext uri="{FF2B5EF4-FFF2-40B4-BE49-F238E27FC236}">
                <a16:creationId xmlns:a16="http://schemas.microsoft.com/office/drawing/2014/main" id="{40E36A9A-DE3A-DCBD-9CE3-4434D65888CD}"/>
              </a:ext>
            </a:extLst>
          </p:cNvPr>
          <p:cNvSpPr txBox="1"/>
          <p:nvPr/>
        </p:nvSpPr>
        <p:spPr>
          <a:xfrm>
            <a:off x="201942" y="5014408"/>
            <a:ext cx="5967668" cy="369332"/>
          </a:xfrm>
          <a:prstGeom prst="rect">
            <a:avLst/>
          </a:prstGeom>
          <a:noFill/>
        </p:spPr>
        <p:txBody>
          <a:bodyPr wrap="squar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Мультимедиалық материалдарды қолдау</a:t>
            </a:r>
          </a:p>
        </p:txBody>
      </p:sp>
      <p:sp>
        <p:nvSpPr>
          <p:cNvPr id="24" name="TextBox 23">
            <a:extLst>
              <a:ext uri="{FF2B5EF4-FFF2-40B4-BE49-F238E27FC236}">
                <a16:creationId xmlns:a16="http://schemas.microsoft.com/office/drawing/2014/main" id="{2AC63132-A835-02E6-5D4D-4E745A511226}"/>
              </a:ext>
            </a:extLst>
          </p:cNvPr>
          <p:cNvSpPr txBox="1"/>
          <p:nvPr/>
        </p:nvSpPr>
        <p:spPr>
          <a:xfrm>
            <a:off x="201942" y="4688263"/>
            <a:ext cx="5967668" cy="369332"/>
          </a:xfrm>
          <a:prstGeom prst="rect">
            <a:avLst/>
          </a:prstGeom>
          <a:noFill/>
        </p:spPr>
        <p:txBody>
          <a:bodyPr wrap="square" rtlCol="0">
            <a:spAutoFit/>
          </a:bodyPr>
          <a:lstStyle/>
          <a:p>
            <a:r>
              <a:rPr lang="ru-RU" b="1">
                <a:latin typeface="Times New Roman" panose="02020603050405020304" pitchFamily="18" charset="0"/>
                <a:cs typeface="Times New Roman" panose="02020603050405020304" pitchFamily="18" charset="0"/>
              </a:rPr>
              <a:t>·</a:t>
            </a:r>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IRT-</a:t>
            </a:r>
            <a:r>
              <a:rPr lang="ru-RU">
                <a:latin typeface="Times New Roman" panose="02020603050405020304" pitchFamily="18" charset="0"/>
                <a:cs typeface="Times New Roman" panose="02020603050405020304" pitchFamily="18" charset="0"/>
              </a:rPr>
              <a:t>моделі негізіндегі адаптивті тестіле</a:t>
            </a:r>
            <a:r>
              <a:rPr lang="kk-KZ">
                <a:latin typeface="Times New Roman" panose="02020603050405020304" pitchFamily="18" charset="0"/>
                <a:cs typeface="Times New Roman" panose="02020603050405020304" pitchFamily="18" charset="0"/>
              </a:rPr>
              <a:t>у</a:t>
            </a:r>
            <a:endParaRPr lang="ru-RU">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5FF67406-3D7F-3D31-92CB-D94DC408E281}"/>
              </a:ext>
            </a:extLst>
          </p:cNvPr>
          <p:cNvSpPr txBox="1"/>
          <p:nvPr/>
        </p:nvSpPr>
        <p:spPr>
          <a:xfrm>
            <a:off x="210568" y="5340553"/>
            <a:ext cx="5967668" cy="369332"/>
          </a:xfrm>
          <a:prstGeom prst="rect">
            <a:avLst/>
          </a:prstGeom>
          <a:noFill/>
        </p:spPr>
        <p:txBody>
          <a:bodyPr wrap="square" rtlCol="0">
            <a:spAutoFit/>
          </a:bodyPr>
          <a:lstStyle/>
          <a:p>
            <a:r>
              <a:rPr lang="ru-RU" b="1">
                <a:latin typeface="Times New Roman" panose="02020603050405020304" pitchFamily="18" charset="0"/>
                <a:cs typeface="Times New Roman" panose="02020603050405020304" pitchFamily="18" charset="0"/>
              </a:rPr>
              <a:t>· </a:t>
            </a:r>
            <a:r>
              <a:rPr lang="ru-RU">
                <a:latin typeface="Times New Roman" panose="02020603050405020304" pitchFamily="18" charset="0"/>
                <a:cs typeface="Times New Roman" panose="02020603050405020304" pitchFamily="18" charset="0"/>
              </a:rPr>
              <a:t>Мобильді қосымша</a:t>
            </a:r>
          </a:p>
        </p:txBody>
      </p:sp>
    </p:spTree>
    <p:extLst>
      <p:ext uri="{BB962C8B-B14F-4D97-AF65-F5344CB8AC3E}">
        <p14:creationId xmlns:p14="http://schemas.microsoft.com/office/powerpoint/2010/main" val="1233256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8754"/>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56954"/>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5154"/>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11879"/>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38550"/>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17168"/>
            <a:ext cx="9144000" cy="1025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19800"/>
            <a:ext cx="9144000" cy="1078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a:xfrm>
            <a:off x="905471" y="2325124"/>
            <a:ext cx="7886700" cy="2026803"/>
          </a:xfrm>
        </p:spPr>
        <p:txBody>
          <a:bodyPr>
            <a:normAutofit/>
          </a:bodyPr>
          <a:lstStyle/>
          <a:p>
            <a:pPr algn="ctr"/>
            <a:r>
              <a:rPr lang="ru-RU" sz="6000" b="1" dirty="0">
                <a:solidFill>
                  <a:schemeClr val="bg1"/>
                </a:solidFill>
                <a:latin typeface="Times New Roman" pitchFamily="18" charset="0"/>
                <a:cs typeface="Times New Roman" pitchFamily="18" charset="0"/>
              </a:rPr>
              <a:t>Назар </a:t>
            </a:r>
            <a:r>
              <a:rPr lang="ru-RU" sz="6000" b="1" dirty="0" err="1">
                <a:solidFill>
                  <a:schemeClr val="bg1"/>
                </a:solidFill>
                <a:latin typeface="Times New Roman" pitchFamily="18" charset="0"/>
                <a:cs typeface="Times New Roman" pitchFamily="18" charset="0"/>
              </a:rPr>
              <a:t>аударғаныңыз</a:t>
            </a:r>
            <a:r>
              <a:rPr lang="ru-RU" sz="6000" b="1" dirty="0">
                <a:solidFill>
                  <a:schemeClr val="bg1"/>
                </a:solidFill>
                <a:latin typeface="Times New Roman" pitchFamily="18" charset="0"/>
                <a:cs typeface="Times New Roman" pitchFamily="18" charset="0"/>
              </a:rPr>
              <a:t> </a:t>
            </a:r>
            <a:r>
              <a:rPr lang="ru-RU" sz="6000" b="1" dirty="0" err="1">
                <a:solidFill>
                  <a:schemeClr val="bg1"/>
                </a:solidFill>
                <a:latin typeface="Times New Roman" pitchFamily="18" charset="0"/>
                <a:cs typeface="Times New Roman" pitchFamily="18" charset="0"/>
              </a:rPr>
              <a:t>үшін</a:t>
            </a:r>
            <a:r>
              <a:rPr lang="ru-RU" sz="6000" b="1" dirty="0">
                <a:solidFill>
                  <a:schemeClr val="bg1"/>
                </a:solidFill>
                <a:latin typeface="Times New Roman" pitchFamily="18" charset="0"/>
                <a:cs typeface="Times New Roman" pitchFamily="18" charset="0"/>
              </a:rPr>
              <a:t> </a:t>
            </a:r>
            <a:r>
              <a:rPr lang="ru-RU" sz="6000" b="1" dirty="0" err="1">
                <a:solidFill>
                  <a:schemeClr val="bg1"/>
                </a:solidFill>
                <a:latin typeface="Times New Roman" pitchFamily="18" charset="0"/>
                <a:cs typeface="Times New Roman" pitchFamily="18" charset="0"/>
              </a:rPr>
              <a:t>рақмет</a:t>
            </a:r>
            <a:r>
              <a:rPr lang="ru-RU" sz="6000" b="1" dirty="0">
                <a:solidFill>
                  <a:schemeClr val="bg1"/>
                </a:solidFill>
                <a:latin typeface="Times New Roman" pitchFamily="18" charset="0"/>
                <a:cs typeface="Times New Roman" pitchFamily="18" charset="0"/>
              </a:rPr>
              <a:t>!</a:t>
            </a:r>
          </a:p>
        </p:txBody>
      </p:sp>
      <p:sp>
        <p:nvSpPr>
          <p:cNvPr id="12" name="Номер слайда 11"/>
          <p:cNvSpPr>
            <a:spLocks noGrp="1"/>
          </p:cNvSpPr>
          <p:nvPr>
            <p:ph type="sldNum" sz="quarter" idx="12"/>
          </p:nvPr>
        </p:nvSpPr>
        <p:spPr/>
        <p:txBody>
          <a:bodyPr/>
          <a:lstStyle/>
          <a:p>
            <a:fld id="{F696E53A-6968-4272-8BC2-4567D025D9BB}" type="slidenum">
              <a:rPr lang="ru-RU" smtClean="0"/>
              <a:pPr/>
              <a:t>15</a:t>
            </a:fld>
            <a:endParaRPr lang="ru-RU"/>
          </a:p>
        </p:txBody>
      </p:sp>
    </p:spTree>
    <p:extLst>
      <p:ext uri="{BB962C8B-B14F-4D97-AF65-F5344CB8AC3E}">
        <p14:creationId xmlns:p14="http://schemas.microsoft.com/office/powerpoint/2010/main" val="2933794922"/>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602E4E0CBDC7B43913C8723EF101FC1" ma:contentTypeVersion="0" ma:contentTypeDescription="Создание документа." ma:contentTypeScope="" ma:versionID="790accecdd6f18f2a7ec4527ce157091">
  <xsd:schema xmlns:xsd="http://www.w3.org/2001/XMLSchema" xmlns:xs="http://www.w3.org/2001/XMLSchema" xmlns:p="http://schemas.microsoft.com/office/2006/metadata/properties" targetNamespace="http://schemas.microsoft.com/office/2006/metadata/properties" ma:root="true" ma:fieldsID="66b589ae3f67a6f4566118ef2a3adee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903FDA-D595-4B7E-9A26-B7AE9FB65E5B}">
  <ds:schemaRefs>
    <ds:schemaRef ds:uri="http://schemas.openxmlformats.org/package/2006/metadata/core-properties"/>
    <ds:schemaRef ds:uri="http://schemas.microsoft.com/office/2006/documentManagement/types"/>
    <ds:schemaRef ds:uri="d789257f-78e4-47d7-b917-3ac18e70e168"/>
    <ds:schemaRef ds:uri="http://purl.org/dc/terms/"/>
    <ds:schemaRef ds:uri="http://purl.org/dc/elements/1.1/"/>
    <ds:schemaRef ds:uri="http://www.w3.org/XML/1998/namespace"/>
    <ds:schemaRef ds:uri="http://purl.org/dc/dcmitype/"/>
    <ds:schemaRef ds:uri="http://schemas.microsoft.com/office/infopath/2007/PartnerControls"/>
    <ds:schemaRef ds:uri="a7c08ec8-8eba-4c25-a5a5-3ac0573b28d8"/>
    <ds:schemaRef ds:uri="http://schemas.microsoft.com/office/2006/metadata/properties"/>
    <ds:schemaRef ds:uri="0071477f-bd8c-4570-8b0b-643909adf6e4"/>
    <ds:schemaRef ds:uri="288fef8e-e760-4445-97bd-5eaece9a25d8"/>
  </ds:schemaRefs>
</ds:datastoreItem>
</file>

<file path=customXml/itemProps2.xml><?xml version="1.0" encoding="utf-8"?>
<ds:datastoreItem xmlns:ds="http://schemas.openxmlformats.org/officeDocument/2006/customXml" ds:itemID="{FB8E8ACB-CE65-48AC-A33E-9A35EB412E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7BDAB77-D3B7-431B-AF00-2AF7D187A7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6558</TotalTime>
  <Words>746</Words>
  <Application>Microsoft Office PowerPoint</Application>
  <PresentationFormat>Экран (4:3)</PresentationFormat>
  <Paragraphs>194</Paragraphs>
  <Slides>15</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15</vt:i4>
      </vt:variant>
    </vt:vector>
  </HeadingPairs>
  <TitlesOfParts>
    <vt:vector size="21" baseType="lpstr">
      <vt:lpstr>Arial</vt:lpstr>
      <vt:lpstr>Calibri</vt:lpstr>
      <vt:lpstr>Calibri Light</vt:lpstr>
      <vt:lpstr>Google Sans Text</vt:lpstr>
      <vt:lpstr>Times New Roman</vt:lpstr>
      <vt:lpstr>Тема Office</vt:lpstr>
      <vt:lpstr>Дипломдық жоба тақырыбы: AI көмегімен автоматтандырылған генерациялау және тест тапсырмаларын тексеру бұлтты қызметін жобалау</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Назар аударғаныңыз үшін рақмет!</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Alisher Omar</dc:creator>
  <cp:lastModifiedBy>Gulzhamal Ginayatova</cp:lastModifiedBy>
  <cp:revision>469</cp:revision>
  <dcterms:created xsi:type="dcterms:W3CDTF">2017-10-09T05:58:02Z</dcterms:created>
  <dcterms:modified xsi:type="dcterms:W3CDTF">2026-04-21T05:22:14Z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0x0101002602E4E0CBDC7B43913C8723EF101FC1</vt:lpwstr>
  </property>
</Properties>
</file>